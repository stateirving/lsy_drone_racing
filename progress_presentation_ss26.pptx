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4"/>
    <p:sldId id="257" r:id="rId2"/>
    <p:sldId id="258" r:id="rId9"/>
    <p:sldId id="259" r:id="rId10"/>
    <p:sldId id="260"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52" d="100"/>
          <a:sy n="152" d="100"/>
        </p:scale>
        <p:origin x="576" y="10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 seconds.</a:t>
            </a:r>
          </a:p>
          <a:p>
            <a:r>
              <a:t>We are building a direct PPO controller for randomized Level-2 drone racing. The focus of this progress update is the method, the measured reliability gap, and the concrete plan to close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r>
              <a:t>The controller uses a direct closed loop. Every 20 milliseconds it receives the current state and visible track geometry, converts it to body-frame features with short history, and produces attitude plus thrust. We selected PPO because online execution is just one network pass and it can react to randomization. Compared with the MPCC baseline, the cost is weaker guarantees and stronger dependence on reward design.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r>
              <a:t>The policy receives 103 features. The important choice is to express gate and obstacle geometry in the drone body frame and include previous, current, and next gates plus short state history. Sparse race completion alone was not enough, so the reward decomposes gate passing into approach, centering, crossing, and exiting. Safety, tilt, smoothness, and time penalties create the speed-versus-robustness trade-off.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r>
              <a:t>Training uses 1,024 parallel environments, 32-step rollouts, and regular checkpoints. A 150-million-step run took about two hours and 26 minutes on GPU. We do not select a policy from training reward alone. Each checkpoint is evaluated deterministically on fixed seeds, then crashes are classified by target gate, object, and location. The curve shows why this matters: success is not monotonic with more training.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The best checkpoint currently reaches 87.5 percent success over 40 fixed seeds with a 5.80-second mean successful race and no position-limit violations. For deployment we are currently using a smoother 100-million-step policy, which reaches 72.5 percent over 200 single-environment episodes. The remaining gap is concentrated: in a 1,024-world test, Gate 3 top and Obstacle 2 account for 228 of 318 crashes. More training is not monotonic, so the next iteration targets those failure modes instead of simply increasing steps.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50 seconds.</a:t>
            </a:r>
          </a:p>
          <a:p>
            <a:r>
              <a:t>The remaining work is split into four measurable milestones. First, reduce the two dominant hotspot crash counts by at least 30 percent in a 1,024-episode test. Second, freeze a policy that reaches at least 85 percent success, stays below six seconds, and has no position-limit violations. Third, complete at least 18 of 20 lab runs without a safety stop. Finally, freeze the reproducible evaluation and deployment package. Xiaochen Miao owns each task in the current repository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_LS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de-DE" dirty="0" err="1"/>
              <a:t>Your</a:t>
            </a:r>
            <a:r>
              <a:rPr lang="de-DE" dirty="0"/>
              <a:t> Name</a:t>
            </a:r>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8947"/>
            <a:ext cx="11520000" cy="400110"/>
          </a:xfrm>
          <a:prstGeom prst="rect">
            <a:avLst/>
          </a:prstGeom>
          <a:noFill/>
        </p:spPr>
        <p:txBody>
          <a:bodyPr wrap="square" rtlCol="0">
            <a:spAutoFit/>
          </a:bodyPr>
          <a:lstStyle/>
          <a:p>
            <a:r>
              <a:rPr lang="de-DE" sz="2000" i="1" dirty="0">
                <a:solidFill>
                  <a:schemeClr val="tx1">
                    <a:lumMod val="65000"/>
                    <a:lumOff val="35000"/>
                  </a:schemeClr>
                </a:solidFill>
              </a:rPr>
              <a:t>Learning Systems and Robotics Laboratory</a:t>
            </a:r>
          </a:p>
        </p:txBody>
      </p:sp>
    </p:spTree>
    <p:extLst>
      <p:ext uri="{BB962C8B-B14F-4D97-AF65-F5344CB8AC3E}">
        <p14:creationId xmlns:p14="http://schemas.microsoft.com/office/powerpoint/2010/main" val="351466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folie_Chai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en-US" sz="2000" i="1" dirty="0">
                <a:solidFill>
                  <a:schemeClr val="tx1">
                    <a:lumMod val="65000"/>
                    <a:lumOff val="35000"/>
                  </a:schemeClr>
                </a:solidFill>
              </a:rPr>
              <a:t>Prof. Dr. Angela Schoellig</a:t>
            </a:r>
            <a:endParaRPr lang="de-DE" dirty="0"/>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4940"/>
            <a:ext cx="11520000" cy="707886"/>
          </a:xfrm>
          <a:prstGeom prst="rect">
            <a:avLst/>
          </a:prstGeom>
          <a:noFill/>
        </p:spPr>
        <p:txBody>
          <a:bodyPr wrap="square" rtlCol="0">
            <a:spAutoFit/>
          </a:bodyPr>
          <a:lstStyle/>
          <a:p>
            <a:r>
              <a:rPr lang="en-US" sz="2000" i="1" dirty="0">
                <a:solidFill>
                  <a:schemeClr val="tx1">
                    <a:lumMod val="65000"/>
                    <a:lumOff val="35000"/>
                  </a:schemeClr>
                </a:solidFill>
              </a:rPr>
              <a:t>Chair of Safety, Performance and Reliability for Learning Systems</a:t>
            </a:r>
            <a:br>
              <a:rPr lang="en-US" sz="2000" i="1" dirty="0">
                <a:solidFill>
                  <a:schemeClr val="tx1">
                    <a:lumMod val="65000"/>
                    <a:lumOff val="35000"/>
                  </a:schemeClr>
                </a:solidFill>
              </a:rPr>
            </a:br>
            <a:r>
              <a:rPr lang="en-US" sz="2000" i="1" dirty="0">
                <a:solidFill>
                  <a:schemeClr val="tx1">
                    <a:lumMod val="65000"/>
                    <a:lumOff val="35000"/>
                  </a:schemeClr>
                </a:solidFill>
              </a:rPr>
              <a:t>School of Computation, Information and Technology</a:t>
            </a:r>
          </a:p>
        </p:txBody>
      </p:sp>
    </p:spTree>
    <p:extLst>
      <p:ext uri="{BB962C8B-B14F-4D97-AF65-F5344CB8AC3E}">
        <p14:creationId xmlns:p14="http://schemas.microsoft.com/office/powerpoint/2010/main" val="134590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14879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582420" y="2679032"/>
            <a:ext cx="11520000" cy="633658"/>
          </a:xfrm>
          <a:prstGeom prst="rect">
            <a:avLst/>
          </a:prstGeom>
        </p:spPr>
        <p:txBody>
          <a:bodyPr anchor="b">
            <a:noAutofit/>
          </a:bodyPr>
          <a:lstStyle>
            <a:lvl1pPr>
              <a:defRPr sz="2800">
                <a:solidFill>
                  <a:schemeClr val="tx1">
                    <a:lumMod val="65000"/>
                    <a:lumOff val="35000"/>
                  </a:schemeClr>
                </a:solidFill>
              </a:defRPr>
            </a:lvl1pPr>
          </a:lstStyle>
          <a:p>
            <a:r>
              <a:rPr lang="de-DE"/>
              <a:t>Mastertitelformat bearbeiten</a:t>
            </a:r>
            <a:endParaRPr lang="de-DE" dirty="0"/>
          </a:p>
        </p:txBody>
      </p:sp>
      <p:sp>
        <p:nvSpPr>
          <p:cNvPr id="3" name="Textplatzhalter 7">
            <a:extLst>
              <a:ext uri="{FF2B5EF4-FFF2-40B4-BE49-F238E27FC236}">
                <a16:creationId xmlns:a16="http://schemas.microsoft.com/office/drawing/2014/main" id="{DD6D1FA6-8B2F-A650-E3C1-3CFCAF993DFE}"/>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45219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Textplatzhalter 7">
            <a:extLst>
              <a:ext uri="{FF2B5EF4-FFF2-40B4-BE49-F238E27FC236}">
                <a16:creationId xmlns:a16="http://schemas.microsoft.com/office/drawing/2014/main" id="{AB2AEF6E-29D7-0603-5866-B8D5A2645DB5}"/>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404144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BBB40A-34ED-977B-6896-AA360A4DE38A}"/>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05364FF8-4533-422D-5E3A-8BB4DECB6937}"/>
              </a:ext>
            </a:extLst>
          </p:cNvPr>
          <p:cNvSpPr>
            <a:spLocks noGrp="1"/>
          </p:cNvSpPr>
          <p:nvPr>
            <p:ph sz="quarter" idx="10"/>
          </p:nvPr>
        </p:nvSpPr>
        <p:spPr>
          <a:xfrm>
            <a:off x="841372" y="1350963"/>
            <a:ext cx="10056815" cy="47783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a:extLst>
              <a:ext uri="{FF2B5EF4-FFF2-40B4-BE49-F238E27FC236}">
                <a16:creationId xmlns:a16="http://schemas.microsoft.com/office/drawing/2014/main" id="{630D7BA6-D517-500C-42CE-5F7DF509BA03}"/>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
        <p:nvSpPr>
          <p:cNvPr id="2" name="Textplatzhalter 5">
            <a:extLst>
              <a:ext uri="{FF2B5EF4-FFF2-40B4-BE49-F238E27FC236}">
                <a16:creationId xmlns:a16="http://schemas.microsoft.com/office/drawing/2014/main" id="{8285C1BE-97B3-A3EE-FF6E-5A49E23F1471}"/>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err="1"/>
              <a:t>Sectiontitle</a:t>
            </a:r>
            <a:endParaRPr lang="en-US"/>
          </a:p>
        </p:txBody>
      </p:sp>
    </p:spTree>
    <p:extLst>
      <p:ext uri="{BB962C8B-B14F-4D97-AF65-F5344CB8AC3E}">
        <p14:creationId xmlns:p14="http://schemas.microsoft.com/office/powerpoint/2010/main" val="287479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200C05F-8EC2-CE99-743A-0CC8BB7D3C89}"/>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BA840236-F352-AB01-99DD-BF5E75C97C6E}"/>
              </a:ext>
            </a:extLst>
          </p:cNvPr>
          <p:cNvSpPr>
            <a:spLocks noGrp="1"/>
          </p:cNvSpPr>
          <p:nvPr>
            <p:ph sz="quarter" idx="10"/>
          </p:nvPr>
        </p:nvSpPr>
        <p:spPr>
          <a:xfrm>
            <a:off x="841373" y="1350963"/>
            <a:ext cx="4802189" cy="47790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Inhaltsplatzhalter 13">
            <a:extLst>
              <a:ext uri="{FF2B5EF4-FFF2-40B4-BE49-F238E27FC236}">
                <a16:creationId xmlns:a16="http://schemas.microsoft.com/office/drawing/2014/main" id="{06FCA2AE-4E9A-9E36-3148-3F4D8F50D1B7}"/>
              </a:ext>
            </a:extLst>
          </p:cNvPr>
          <p:cNvSpPr>
            <a:spLocks noGrp="1"/>
          </p:cNvSpPr>
          <p:nvPr>
            <p:ph sz="quarter" idx="11"/>
          </p:nvPr>
        </p:nvSpPr>
        <p:spPr>
          <a:xfrm>
            <a:off x="6096000" y="1350963"/>
            <a:ext cx="4802188" cy="4779074"/>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extplatzhalter 5">
            <a:extLst>
              <a:ext uri="{FF2B5EF4-FFF2-40B4-BE49-F238E27FC236}">
                <a16:creationId xmlns:a16="http://schemas.microsoft.com/office/drawing/2014/main" id="{D5F8ED99-64E0-0F9D-F602-1EF68AEAC148}"/>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dirty="0" err="1"/>
              <a:t>Sectiontitle</a:t>
            </a:r>
            <a:endParaRPr lang="en-US" dirty="0"/>
          </a:p>
        </p:txBody>
      </p:sp>
      <p:sp>
        <p:nvSpPr>
          <p:cNvPr id="3" name="Textplatzhalter 7">
            <a:extLst>
              <a:ext uri="{FF2B5EF4-FFF2-40B4-BE49-F238E27FC236}">
                <a16:creationId xmlns:a16="http://schemas.microsoft.com/office/drawing/2014/main" id="{389AF915-F8DC-714E-C7B9-AB70250478F0}"/>
              </a:ext>
            </a:extLst>
          </p:cNvPr>
          <p:cNvSpPr>
            <a:spLocks noGrp="1"/>
          </p:cNvSpPr>
          <p:nvPr>
            <p:ph type="body" sz="quarter" idx="13"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3212028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jpe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B0C6BB-F024-7B4F-A916-1E574B1541C8}"/>
              </a:ext>
            </a:extLst>
          </p:cNvPr>
          <p:cNvSpPr>
            <a:spLocks noGrp="1"/>
          </p:cNvSpPr>
          <p:nvPr>
            <p:ph type="body" idx="1"/>
          </p:nvPr>
        </p:nvSpPr>
        <p:spPr>
          <a:xfrm>
            <a:off x="838200" y="1290568"/>
            <a:ext cx="10515600" cy="488639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cxnSp>
        <p:nvCxnSpPr>
          <p:cNvPr id="19" name="Straight Connector 18">
            <a:extLst>
              <a:ext uri="{FF2B5EF4-FFF2-40B4-BE49-F238E27FC236}">
                <a16:creationId xmlns:a16="http://schemas.microsoft.com/office/drawing/2014/main" id="{E4E4E9B8-101E-8C40-885A-F55C07567F21}"/>
              </a:ext>
            </a:extLst>
          </p:cNvPr>
          <p:cNvCxnSpPr>
            <a:cxnSpLocks/>
          </p:cNvCxnSpPr>
          <p:nvPr/>
        </p:nvCxnSpPr>
        <p:spPr bwMode="auto">
          <a:xfrm>
            <a:off x="360000" y="1152000"/>
            <a:ext cx="10560078"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05AE2691-09BB-C647-9FCF-013218485002}"/>
              </a:ext>
            </a:extLst>
          </p:cNvPr>
          <p:cNvCxnSpPr>
            <a:cxnSpLocks/>
          </p:cNvCxnSpPr>
          <p:nvPr/>
        </p:nvCxnSpPr>
        <p:spPr bwMode="auto">
          <a:xfrm>
            <a:off x="360000" y="6226072"/>
            <a:ext cx="11520000"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sp>
        <p:nvSpPr>
          <p:cNvPr id="21" name="Slide Number Placeholder 6">
            <a:extLst>
              <a:ext uri="{FF2B5EF4-FFF2-40B4-BE49-F238E27FC236}">
                <a16:creationId xmlns:a16="http://schemas.microsoft.com/office/drawing/2014/main" id="{D9B11A88-1872-3E4D-8357-93920F91A5D7}"/>
              </a:ext>
            </a:extLst>
          </p:cNvPr>
          <p:cNvSpPr txBox="1">
            <a:spLocks/>
          </p:cNvSpPr>
          <p:nvPr/>
        </p:nvSpPr>
        <p:spPr>
          <a:xfrm>
            <a:off x="9330723" y="6389195"/>
            <a:ext cx="258555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AF2FF1-0F85-5948-B45D-85D15C7A6F9F}" type="slidenum">
              <a:rPr lang="en-US" smtClean="0">
                <a:solidFill>
                  <a:schemeClr val="tx1">
                    <a:lumMod val="75000"/>
                    <a:lumOff val="25000"/>
                  </a:schemeClr>
                </a:solidFill>
                <a:latin typeface="+mn-lt"/>
              </a:rPr>
              <a:pPr/>
              <a:t>‹#›</a:t>
            </a:fld>
            <a:endParaRPr lang="en-US" dirty="0">
              <a:solidFill>
                <a:schemeClr val="tx1">
                  <a:lumMod val="75000"/>
                  <a:lumOff val="25000"/>
                </a:schemeClr>
              </a:solidFill>
              <a:latin typeface="+mn-lt"/>
            </a:endParaRPr>
          </a:p>
        </p:txBody>
      </p:sp>
      <p:pic>
        <p:nvPicPr>
          <p:cNvPr id="22" name="Picture 21">
            <a:extLst>
              <a:ext uri="{FF2B5EF4-FFF2-40B4-BE49-F238E27FC236}">
                <a16:creationId xmlns:a16="http://schemas.microsoft.com/office/drawing/2014/main" id="{21B31D17-1F23-BC44-A237-A2155205E11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4248"/>
          <a:stretch/>
        </p:blipFill>
        <p:spPr>
          <a:xfrm>
            <a:off x="10898505" y="322814"/>
            <a:ext cx="1203716" cy="835550"/>
          </a:xfrm>
          <a:prstGeom prst="rect">
            <a:avLst/>
          </a:prstGeom>
        </p:spPr>
      </p:pic>
      <p:sp>
        <p:nvSpPr>
          <p:cNvPr id="4" name="Title 1">
            <a:extLst>
              <a:ext uri="{FF2B5EF4-FFF2-40B4-BE49-F238E27FC236}">
                <a16:creationId xmlns:a16="http://schemas.microsoft.com/office/drawing/2014/main" id="{2BDFEDE7-E7EF-BA56-C693-D677BAC4656F}"/>
              </a:ext>
            </a:extLst>
          </p:cNvPr>
          <p:cNvSpPr txBox="1">
            <a:spLocks/>
          </p:cNvSpPr>
          <p:nvPr/>
        </p:nvSpPr>
        <p:spPr>
          <a:xfrm>
            <a:off x="-429117" y="3401109"/>
            <a:ext cx="10858748" cy="44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5" name="Titelplatzhalter 4">
            <a:extLst>
              <a:ext uri="{FF2B5EF4-FFF2-40B4-BE49-F238E27FC236}">
                <a16:creationId xmlns:a16="http://schemas.microsoft.com/office/drawing/2014/main" id="{FF3EC424-F876-BDCD-A7C1-A5D874A0BF09}"/>
              </a:ext>
            </a:extLst>
          </p:cNvPr>
          <p:cNvSpPr>
            <a:spLocks noGrp="1"/>
          </p:cNvSpPr>
          <p:nvPr>
            <p:ph type="title"/>
          </p:nvPr>
        </p:nvSpPr>
        <p:spPr>
          <a:xfrm>
            <a:off x="371453" y="103805"/>
            <a:ext cx="10515600" cy="1054559"/>
          </a:xfrm>
          <a:prstGeom prst="rect">
            <a:avLst/>
          </a:prstGeom>
        </p:spPr>
        <p:txBody>
          <a:bodyPr vert="horz" lIns="91440" tIns="45720" rIns="91440" bIns="45720" rtlCol="0" anchor="b">
            <a:normAutofit/>
          </a:bodyPr>
          <a:lstStyle/>
          <a:p>
            <a:r>
              <a:rPr lang="de-DE" dirty="0"/>
              <a:t>Mastertitelformat bearbeiten</a:t>
            </a:r>
          </a:p>
        </p:txBody>
      </p:sp>
      <p:sp>
        <p:nvSpPr>
          <p:cNvPr id="2" name="Slide Number Placeholder 6">
            <a:extLst>
              <a:ext uri="{FF2B5EF4-FFF2-40B4-BE49-F238E27FC236}">
                <a16:creationId xmlns:a16="http://schemas.microsoft.com/office/drawing/2014/main" id="{A9FEC449-540F-CE78-4CED-98FA8B5F921B}"/>
              </a:ext>
            </a:extLst>
          </p:cNvPr>
          <p:cNvSpPr txBox="1">
            <a:spLocks/>
          </p:cNvSpPr>
          <p:nvPr/>
        </p:nvSpPr>
        <p:spPr>
          <a:xfrm>
            <a:off x="6618082" y="6460048"/>
            <a:ext cx="488228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noProof="0" dirty="0">
                <a:solidFill>
                  <a:schemeClr val="tx1">
                    <a:lumMod val="65000"/>
                    <a:lumOff val="35000"/>
                  </a:schemeClr>
                </a:solidFill>
              </a:rPr>
              <a:t>Your Name, Date</a:t>
            </a:r>
          </a:p>
          <a:p>
            <a:r>
              <a:rPr lang="en-US" sz="800" noProof="0" dirty="0">
                <a:solidFill>
                  <a:schemeClr val="tx1">
                    <a:lumMod val="65000"/>
                    <a:lumOff val="35000"/>
                  </a:schemeClr>
                </a:solidFill>
              </a:rPr>
              <a:t>Title</a:t>
            </a:r>
            <a:endParaRPr lang="en-US" sz="800" noProof="0" dirty="0">
              <a:solidFill>
                <a:schemeClr val="tx1">
                  <a:lumMod val="65000"/>
                  <a:lumOff val="35000"/>
                </a:schemeClr>
              </a:solidFill>
              <a:latin typeface="+mn-lt"/>
            </a:endParaRPr>
          </a:p>
        </p:txBody>
      </p:sp>
    </p:spTree>
    <p:extLst>
      <p:ext uri="{BB962C8B-B14F-4D97-AF65-F5344CB8AC3E}">
        <p14:creationId xmlns:p14="http://schemas.microsoft.com/office/powerpoint/2010/main" val="380840584"/>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74" r:id="rId3"/>
    <p:sldLayoutId id="2147483671" r:id="rId4"/>
    <p:sldLayoutId id="2147483669" r:id="rId5"/>
    <p:sldLayoutId id="2147483673" r:id="rId6"/>
  </p:sldLayoutIdLst>
  <p:txStyles>
    <p:titleStyle>
      <a:lvl1pPr algn="l" defTabSz="914400" rtl="0" eaLnBrk="1" latinLnBrk="0" hangingPunct="1">
        <a:lnSpc>
          <a:spcPct val="90000"/>
        </a:lnSpc>
        <a:spcBef>
          <a:spcPct val="0"/>
        </a:spcBef>
        <a:buNone/>
        <a:defRPr sz="28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1325880"/>
            <a:ext cx="5577840" cy="1417320"/>
          </a:xfrm>
        </p:spPr>
        <p:txBody>
          <a:bodyPr wrap="square" lIns="54864" rIns="54864" tIns="54864" bIns="54864" anchor="ctr"/>
          <a:lstStyle/>
          <a:p>
            <a:pPr algn="l">
              <a:lnSpc>
                <a:spcPct val="100000"/>
              </a:lnSpc>
              <a:spcBef>
                <a:spcPts val="0"/>
              </a:spcBef>
              <a:spcAft>
                <a:spcPts val="0"/>
              </a:spcAft>
            </a:pPr>
            <a:r>
              <a:rPr sz="3100" b="1">
                <a:solidFill>
                  <a:srgbClr val="242D35"/>
                </a:solidFill>
                <a:latin typeface="Arial"/>
              </a:rPr>
              <a:t>Robust Level-2 Drone Racing</a:t>
            </a:r>
            <a:br/>
            <a:r>
              <a:rPr sz="3100" b="1">
                <a:solidFill>
                  <a:srgbClr val="242D35"/>
                </a:solidFill>
                <a:latin typeface="Arial"/>
              </a:rPr>
              <a:t>with Direct PPO</a:t>
            </a:r>
          </a:p>
        </p:txBody>
      </p:sp>
      <p:sp>
        <p:nvSpPr>
          <p:cNvPr id="3" name="Content Placeholder 2"/>
          <p:cNvSpPr>
            <a:spLocks noGrp="1"/>
          </p:cNvSpPr>
          <p:nvPr>
            <p:ph idx="10" sz="quarter"/>
          </p:nvPr>
        </p:nvSpPr>
        <p:spPr>
          <a:xfrm>
            <a:off x="658368" y="2971800"/>
            <a:ext cx="5303520" cy="347472"/>
          </a:xfrm>
        </p:spPr>
        <p:txBody>
          <a:bodyPr wrap="square" lIns="54864" rIns="54864" tIns="54864" bIns="54864" anchor="t"/>
          <a:lstStyle/>
          <a:p>
            <a:pPr algn="l">
              <a:lnSpc>
                <a:spcPct val="100000"/>
              </a:lnSpc>
              <a:spcBef>
                <a:spcPts val="0"/>
              </a:spcBef>
              <a:spcAft>
                <a:spcPts val="0"/>
              </a:spcAft>
            </a:pPr>
            <a:r>
              <a:rPr sz="1500" b="1">
                <a:solidFill>
                  <a:srgbClr val="3070B3"/>
                </a:solidFill>
                <a:latin typeface="Arial"/>
              </a:rPr>
              <a:t>Progress Presentation  |  SS26</a:t>
            </a:r>
          </a:p>
        </p:txBody>
      </p:sp>
      <p:sp>
        <p:nvSpPr>
          <p:cNvPr id="4" name="Content Placeholder 3"/>
          <p:cNvSpPr>
            <a:spLocks noGrp="1"/>
          </p:cNvSpPr>
          <p:nvPr>
            <p:ph idx="11" sz="quarter"/>
          </p:nvPr>
        </p:nvSpPr>
        <p:spPr>
          <a:xfrm>
            <a:off x="658368" y="3401568"/>
            <a:ext cx="5303520" cy="329184"/>
          </a:xfrm>
        </p:spPr>
        <p:txBody>
          <a:bodyPr wrap="square" lIns="54864" rIns="54864" tIns="54864" bIns="54864" anchor="t"/>
          <a:lstStyle/>
          <a:p>
            <a:pPr algn="l">
              <a:lnSpc>
                <a:spcPct val="100000"/>
              </a:lnSpc>
              <a:spcBef>
                <a:spcPts val="0"/>
              </a:spcBef>
              <a:spcAft>
                <a:spcPts val="0"/>
              </a:spcAft>
            </a:pPr>
            <a:r>
              <a:rPr sz="1400" b="0">
                <a:solidFill>
                  <a:srgbClr val="242D35"/>
                </a:solidFill>
                <a:latin typeface="Arial"/>
              </a:rPr>
              <a:t>Xiaochen Miao</a:t>
            </a:r>
          </a:p>
        </p:txBody>
      </p:sp>
      <p:sp>
        <p:nvSpPr>
          <p:cNvPr id="5" name="Content Placeholder 4"/>
          <p:cNvSpPr>
            <a:spLocks noGrp="1"/>
          </p:cNvSpPr>
          <p:nvPr>
            <p:ph idx="12" sz="quarter"/>
          </p:nvPr>
        </p:nvSpPr>
        <p:spPr>
          <a:xfrm>
            <a:off x="658368" y="3877056"/>
            <a:ext cx="5303520" cy="329184"/>
          </a:xfrm>
        </p:spPr>
        <p:txBody>
          <a:bodyPr wrap="square" lIns="54864" rIns="54864" tIns="54864" bIns="54864" anchor="t"/>
          <a:lstStyle/>
          <a:p>
            <a:pPr algn="l">
              <a:lnSpc>
                <a:spcPct val="100000"/>
              </a:lnSpc>
              <a:spcBef>
                <a:spcPts val="0"/>
              </a:spcBef>
              <a:spcAft>
                <a:spcPts val="0"/>
              </a:spcAft>
            </a:pPr>
            <a:r>
              <a:rPr sz="1200" b="0">
                <a:solidFill>
                  <a:srgbClr val="707A82"/>
                </a:solidFill>
                <a:latin typeface="Arial"/>
              </a:rPr>
              <a:t>04 June 2026</a:t>
            </a:r>
          </a:p>
        </p:txBody>
      </p:sp>
      <p:sp>
        <p:nvSpPr>
          <p:cNvPr id="6" name="Rounded Rectangle 5"/>
          <p:cNvSpPr/>
          <p:nvPr/>
        </p:nvSpPr>
        <p:spPr>
          <a:xfrm>
            <a:off x="6492240" y="1143000"/>
            <a:ext cx="5074920" cy="3886200"/>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ce_title.png"/>
          <p:cNvPicPr>
            <a:picLocks noChangeAspect="1"/>
          </p:cNvPicPr>
          <p:nvPr/>
        </p:nvPicPr>
        <p:blipFill>
          <a:blip r:embed="rId2"/>
          <a:srcRect l="12524" r="12524"/>
          <a:stretch>
            <a:fillRect/>
          </a:stretch>
        </p:blipFill>
        <p:spPr>
          <a:xfrm>
            <a:off x="6611112" y="1261872"/>
            <a:ext cx="4837176" cy="3630168"/>
          </a:xfrm>
          <a:prstGeom prst="rect">
            <a:avLst/>
          </a:prstGeom>
        </p:spPr>
      </p:pic>
      <p:sp>
        <p:nvSpPr>
          <p:cNvPr id="8" name="Rounded Rectangle 7"/>
          <p:cNvSpPr/>
          <p:nvPr/>
        </p:nvSpPr>
        <p:spPr>
          <a:xfrm>
            <a:off x="8375904" y="5166360"/>
            <a:ext cx="2788920" cy="329184"/>
          </a:xfrm>
          <a:prstGeom prst="roundRect">
            <a:avLst/>
          </a:prstGeom>
          <a:solidFill>
            <a:srgbClr val="7AB800"/>
          </a:solidFill>
          <a:ln>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00" b="1">
                <a:solidFill>
                  <a:srgbClr val="FFFFFF"/>
                </a:solidFill>
                <a:latin typeface="Arial"/>
              </a:rPr>
              <a:t>CURRENT: LEVEL-2 POLICY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54864" bIns="54864" anchor="t"/>
          <a:lstStyle/>
          <a:p>
            <a:pPr algn="l">
              <a:lnSpc>
                <a:spcPct val="100000"/>
              </a:lnSpc>
              <a:spcBef>
                <a:spcPts val="0"/>
              </a:spcBef>
              <a:spcAft>
                <a:spcPts val="0"/>
              </a:spcAft>
            </a:pPr>
            <a:r>
              <a:rPr sz="2500" b="1">
                <a:solidFill>
                  <a:srgbClr val="242D35"/>
                </a:solidFill>
                <a:latin typeface="Arial"/>
              </a:rPr>
              <a:t>One policy closes the Level-2 loop</a:t>
            </a:r>
          </a:p>
        </p:txBody>
      </p:sp>
      <p:sp>
        <p:nvSpPr>
          <p:cNvPr id="3" name="Content Placeholder 2"/>
          <p:cNvSpPr>
            <a:spLocks noGrp="1"/>
          </p:cNvSpPr>
          <p:nvPr>
            <p:ph idx="10" sz="quarter"/>
          </p:nvPr>
        </p:nvSpPr>
        <p:spPr/>
        <p:txBody>
          <a:bodyPr/>
          <a:lstStyle/>
          <a:p/>
        </p:txBody>
      </p:sp>
      <p:sp>
        <p:nvSpPr>
          <p:cNvPr id="4" name="Text Placeholder 3"/>
          <p:cNvSpPr>
            <a:spLocks noGrp="1"/>
          </p:cNvSpPr>
          <p:nvPr>
            <p:ph type="body" idx="11" sz="quarter"/>
          </p:nvPr>
        </p:nvSpPr>
        <p:spPr/>
        <p:txBody>
          <a:bodyPr wrap="square" lIns="54864" rIns="54864" tIns="54864" bIns="54864" anchor="ctr"/>
          <a:lstStyle/>
          <a:p>
            <a:pPr algn="r">
              <a:lnSpc>
                <a:spcPct val="100000"/>
              </a:lnSpc>
              <a:spcBef>
                <a:spcPts val="0"/>
              </a:spcBef>
              <a:spcAft>
                <a:spcPts val="0"/>
              </a:spcAft>
            </a:pPr>
            <a:r>
              <a:rPr sz="850" b="0">
                <a:solidFill>
                  <a:srgbClr val="707A82"/>
                </a:solidFill>
                <a:latin typeface="Arial"/>
              </a:rPr>
              <a:t>Xiaochen Miao  |  Progress Presentation SS26  |  1/5</a:t>
            </a:r>
          </a:p>
        </p:txBody>
      </p:sp>
      <p:sp>
        <p:nvSpPr>
          <p:cNvPr id="5" name="Text Placeholder 4"/>
          <p:cNvSpPr>
            <a:spLocks noGrp="1"/>
          </p:cNvSpPr>
          <p:nvPr>
            <p:ph type="body" idx="12" sz="quarter"/>
          </p:nvPr>
        </p:nvSpPr>
        <p:spPr/>
        <p:txBody>
          <a:bodyPr wrap="square" lIns="54864" rIns="54864" tIns="54864" bIns="54864" anchor="t"/>
          <a:lstStyle/>
          <a:p>
            <a:pPr algn="l">
              <a:lnSpc>
                <a:spcPct val="100000"/>
              </a:lnSpc>
              <a:spcBef>
                <a:spcPts val="0"/>
              </a:spcBef>
              <a:spcAft>
                <a:spcPts val="0"/>
              </a:spcAft>
            </a:pPr>
            <a:r>
              <a:rPr sz="1000" b="1">
                <a:solidFill>
                  <a:srgbClr val="3070B3"/>
                </a:solidFill>
                <a:latin typeface="Arial"/>
              </a:rPr>
              <a:t>METHODOLOGY / 1 OF 3</a:t>
            </a:r>
          </a:p>
        </p:txBody>
      </p:sp>
      <p:sp>
        <p:nvSpPr>
          <p:cNvPr id="6" name="Rounded Rectangle 5"/>
          <p:cNvSpPr/>
          <p:nvPr/>
        </p:nvSpPr>
        <p:spPr>
          <a:xfrm>
            <a:off x="502920" y="1444752"/>
            <a:ext cx="1984248" cy="1298448"/>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1100" b="1">
                <a:solidFill>
                  <a:srgbClr val="3070B3"/>
                </a:solidFill>
                <a:latin typeface="Arial"/>
              </a:rPr>
              <a:t>OBSERVE</a:t>
            </a:r>
          </a:p>
          <a:p>
            <a:pPr algn="ctr">
              <a:lnSpc>
                <a:spcPct val="100000"/>
              </a:lnSpc>
              <a:spcAft>
                <a:spcPts val="0"/>
              </a:spcAft>
            </a:pPr>
            <a:r>
              <a:rPr sz="1100">
                <a:solidFill>
                  <a:srgbClr val="242D35"/>
                </a:solidFill>
                <a:latin typeface="Arial"/>
              </a:rPr>
              <a:t>Drone state</a:t>
            </a:r>
            <a:br/>
            <a:r>
              <a:rPr sz="1100">
                <a:solidFill>
                  <a:srgbClr val="242D35"/>
                </a:solidFill>
                <a:latin typeface="Arial"/>
              </a:rPr>
              <a:t>Gates + obstacles</a:t>
            </a:r>
          </a:p>
        </p:txBody>
      </p:sp>
      <p:sp>
        <p:nvSpPr>
          <p:cNvPr id="7" name="Chevron 6"/>
          <p:cNvSpPr/>
          <p:nvPr/>
        </p:nvSpPr>
        <p:spPr>
          <a:xfrm>
            <a:off x="2523744" y="1901952"/>
            <a:ext cx="201168" cy="347472"/>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61488" y="1444752"/>
            <a:ext cx="1984248" cy="1298448"/>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1100" b="1">
                <a:solidFill>
                  <a:srgbClr val="3070B3"/>
                </a:solidFill>
                <a:latin typeface="Arial"/>
              </a:rPr>
              <a:t>ENCODE</a:t>
            </a:r>
          </a:p>
          <a:p>
            <a:pPr algn="ctr">
              <a:lnSpc>
                <a:spcPct val="100000"/>
              </a:lnSpc>
              <a:spcAft>
                <a:spcPts val="0"/>
              </a:spcAft>
            </a:pPr>
            <a:r>
              <a:rPr sz="1100">
                <a:solidFill>
                  <a:srgbClr val="242D35"/>
                </a:solidFill>
                <a:latin typeface="Arial"/>
              </a:rPr>
              <a:t>Body-frame geometry</a:t>
            </a:r>
            <a:br/>
            <a:r>
              <a:rPr sz="1100">
                <a:solidFill>
                  <a:srgbClr val="242D35"/>
                </a:solidFill>
                <a:latin typeface="Arial"/>
              </a:rPr>
              <a:t>2-step state history</a:t>
            </a:r>
          </a:p>
        </p:txBody>
      </p:sp>
      <p:sp>
        <p:nvSpPr>
          <p:cNvPr id="9" name="Chevron 8"/>
          <p:cNvSpPr/>
          <p:nvPr/>
        </p:nvSpPr>
        <p:spPr>
          <a:xfrm>
            <a:off x="4782312" y="1901952"/>
            <a:ext cx="201168" cy="347472"/>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0056" y="1444752"/>
            <a:ext cx="1984248" cy="1298448"/>
          </a:xfrm>
          <a:prstGeom prst="roundRect">
            <a:avLst/>
          </a:prstGeom>
          <a:solidFill>
            <a:srgbClr val="EEF7DE"/>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1100" b="1">
                <a:solidFill>
                  <a:srgbClr val="7AB800"/>
                </a:solidFill>
                <a:latin typeface="Arial"/>
              </a:rPr>
              <a:t>DECIDE</a:t>
            </a:r>
          </a:p>
          <a:p>
            <a:pPr algn="ctr">
              <a:lnSpc>
                <a:spcPct val="100000"/>
              </a:lnSpc>
              <a:spcAft>
                <a:spcPts val="0"/>
              </a:spcAft>
            </a:pPr>
            <a:r>
              <a:rPr sz="1100">
                <a:solidFill>
                  <a:srgbClr val="242D35"/>
                </a:solidFill>
                <a:latin typeface="Arial"/>
              </a:rPr>
              <a:t>PPO actor</a:t>
            </a:r>
            <a:br/>
            <a:r>
              <a:rPr sz="1100">
                <a:solidFill>
                  <a:srgbClr val="242D35"/>
                </a:solidFill>
                <a:latin typeface="Arial"/>
              </a:rPr>
              <a:t>2 x 64 tanh MLP</a:t>
            </a:r>
          </a:p>
        </p:txBody>
      </p:sp>
      <p:sp>
        <p:nvSpPr>
          <p:cNvPr id="11" name="Chevron 10"/>
          <p:cNvSpPr/>
          <p:nvPr/>
        </p:nvSpPr>
        <p:spPr>
          <a:xfrm>
            <a:off x="7040880" y="1901952"/>
            <a:ext cx="201168" cy="347472"/>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78624" y="1444752"/>
            <a:ext cx="1984248" cy="1298448"/>
          </a:xfrm>
          <a:prstGeom prst="roundRect">
            <a:avLst/>
          </a:prstGeom>
          <a:solidFill>
            <a:srgbClr val="EEF7DE"/>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1100" b="1">
                <a:solidFill>
                  <a:srgbClr val="7AB800"/>
                </a:solidFill>
                <a:latin typeface="Arial"/>
              </a:rPr>
              <a:t>COMMAND</a:t>
            </a:r>
          </a:p>
          <a:p>
            <a:pPr algn="ctr">
              <a:lnSpc>
                <a:spcPct val="100000"/>
              </a:lnSpc>
              <a:spcAft>
                <a:spcPts val="0"/>
              </a:spcAft>
            </a:pPr>
            <a:r>
              <a:rPr sz="1100">
                <a:solidFill>
                  <a:srgbClr val="242D35"/>
                </a:solidFill>
                <a:latin typeface="Arial"/>
              </a:rPr>
              <a:t>Roll, pitch, yaw</a:t>
            </a:r>
            <a:br/>
            <a:r>
              <a:rPr sz="1100">
                <a:solidFill>
                  <a:srgbClr val="242D35"/>
                </a:solidFill>
                <a:latin typeface="Arial"/>
              </a:rPr>
              <a:t>and thrust</a:t>
            </a:r>
          </a:p>
        </p:txBody>
      </p:sp>
      <p:sp>
        <p:nvSpPr>
          <p:cNvPr id="13" name="Chevron 12"/>
          <p:cNvSpPr/>
          <p:nvPr/>
        </p:nvSpPr>
        <p:spPr>
          <a:xfrm>
            <a:off x="9299448" y="1901952"/>
            <a:ext cx="201168" cy="347472"/>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37192" y="1444752"/>
            <a:ext cx="1984248" cy="1298448"/>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1100" b="1">
                <a:solidFill>
                  <a:srgbClr val="3070B3"/>
                </a:solidFill>
                <a:latin typeface="Arial"/>
              </a:rPr>
              <a:t>EXECUTE</a:t>
            </a:r>
          </a:p>
          <a:p>
            <a:pPr algn="ctr">
              <a:lnSpc>
                <a:spcPct val="100000"/>
              </a:lnSpc>
              <a:spcAft>
                <a:spcPts val="0"/>
              </a:spcAft>
            </a:pPr>
            <a:r>
              <a:rPr sz="1100">
                <a:solidFill>
                  <a:srgbClr val="242D35"/>
                </a:solidFill>
                <a:latin typeface="Arial"/>
              </a:rPr>
              <a:t>Crazyflow / Crazyflie</a:t>
            </a:r>
            <a:br/>
            <a:r>
              <a:rPr sz="1100">
                <a:solidFill>
                  <a:srgbClr val="242D35"/>
                </a:solidFill>
                <a:latin typeface="Arial"/>
              </a:rPr>
              <a:t>50 Hz closed loop</a:t>
            </a:r>
          </a:p>
        </p:txBody>
      </p:sp>
      <p:sp>
        <p:nvSpPr>
          <p:cNvPr id="15" name="Rounded Rectangle 14"/>
          <p:cNvSpPr/>
          <p:nvPr/>
        </p:nvSpPr>
        <p:spPr>
          <a:xfrm>
            <a:off x="4736592" y="2862072"/>
            <a:ext cx="2743200" cy="310896"/>
          </a:xfrm>
          <a:prstGeom prst="roundRect">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00" b="1">
                <a:solidFill>
                  <a:srgbClr val="FFFFFF"/>
                </a:solidFill>
                <a:latin typeface="Arial"/>
              </a:rPr>
              <a:t>NEW OBSERVATION EVERY 20 ms</a:t>
            </a:r>
          </a:p>
        </p:txBody>
      </p:sp>
      <p:sp>
        <p:nvSpPr>
          <p:cNvPr id="16" name="Rounded Rectangle 15"/>
          <p:cNvSpPr/>
          <p:nvPr/>
        </p:nvSpPr>
        <p:spPr>
          <a:xfrm>
            <a:off x="530352" y="3364992"/>
            <a:ext cx="5440680" cy="2212848"/>
          </a:xfrm>
          <a:prstGeom prst="roundRect">
            <a:avLst/>
          </a:prstGeom>
          <a:solidFill>
            <a:srgbClr val="EEF7DE"/>
          </a:solidFill>
          <a:ln w="1397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lnSpc>
                <a:spcPct val="100000"/>
              </a:lnSpc>
              <a:spcBef>
                <a:spcPts val="0"/>
              </a:spcBef>
              <a:spcAft>
                <a:spcPts val="500"/>
              </a:spcAft>
            </a:pPr>
            <a:r>
              <a:rPr sz="1400" b="1">
                <a:solidFill>
                  <a:srgbClr val="7AB800"/>
                </a:solidFill>
                <a:latin typeface="Arial"/>
              </a:rPr>
              <a:t>Why direct PPO</a:t>
            </a:r>
          </a:p>
          <a:p>
            <a:pPr algn="l">
              <a:lnSpc>
                <a:spcPct val="100000"/>
              </a:lnSpc>
              <a:spcBef>
                <a:spcPts val="0"/>
              </a:spcBef>
              <a:spcAft>
                <a:spcPts val="200"/>
              </a:spcAft>
            </a:pPr>
            <a:r>
              <a:rPr sz="1150" b="0">
                <a:solidFill>
                  <a:srgbClr val="242D35"/>
                </a:solidFill>
                <a:latin typeface="Arial"/>
              </a:rPr>
              <a:t>One low-cost forward pass at runtime</a:t>
            </a:r>
          </a:p>
          <a:p>
            <a:pPr algn="l">
              <a:lnSpc>
                <a:spcPct val="100000"/>
              </a:lnSpc>
              <a:spcBef>
                <a:spcPts val="0"/>
              </a:spcBef>
              <a:spcAft>
                <a:spcPts val="200"/>
              </a:spcAft>
            </a:pPr>
            <a:r>
              <a:rPr sz="1150" b="0">
                <a:solidFill>
                  <a:srgbClr val="242D35"/>
                </a:solidFill>
                <a:latin typeface="Arial"/>
              </a:rPr>
              <a:t>Reacts to newly observed geometry and dynamics</a:t>
            </a:r>
          </a:p>
          <a:p>
            <a:pPr algn="l">
              <a:lnSpc>
                <a:spcPct val="100000"/>
              </a:lnSpc>
              <a:spcBef>
                <a:spcPts val="0"/>
              </a:spcBef>
              <a:spcAft>
                <a:spcPts val="200"/>
              </a:spcAft>
            </a:pPr>
            <a:r>
              <a:rPr sz="1150" b="0">
                <a:solidFill>
                  <a:srgbClr val="242D35"/>
                </a:solidFill>
                <a:latin typeface="Arial"/>
              </a:rPr>
              <a:t>Learns planning and control trade-offs jointly</a:t>
            </a:r>
          </a:p>
          <a:p>
            <a:pPr algn="l">
              <a:lnSpc>
                <a:spcPct val="100000"/>
              </a:lnSpc>
              <a:spcBef>
                <a:spcPts val="0"/>
              </a:spcBef>
              <a:spcAft>
                <a:spcPts val="200"/>
              </a:spcAft>
            </a:pPr>
            <a:r>
              <a:rPr sz="1150" b="1">
                <a:solidFill>
                  <a:srgbClr val="005293"/>
                </a:solidFill>
                <a:latin typeface="Arial"/>
              </a:rPr>
              <a:t>Selected for the randomized Level-2 task</a:t>
            </a:r>
          </a:p>
        </p:txBody>
      </p:sp>
      <p:sp>
        <p:nvSpPr>
          <p:cNvPr id="17" name="Rounded Rectangle 16"/>
          <p:cNvSpPr/>
          <p:nvPr/>
        </p:nvSpPr>
        <p:spPr>
          <a:xfrm>
            <a:off x="6217920" y="3364992"/>
            <a:ext cx="5440680" cy="2212848"/>
          </a:xfrm>
          <a:prstGeom prst="roundRect">
            <a:avLst/>
          </a:prstGeom>
          <a:solidFill>
            <a:srgbClr val="E8F1F9"/>
          </a:solidFill>
          <a:ln w="1397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lnSpc>
                <a:spcPct val="100000"/>
              </a:lnSpc>
              <a:spcBef>
                <a:spcPts val="0"/>
              </a:spcBef>
              <a:spcAft>
                <a:spcPts val="500"/>
              </a:spcAft>
            </a:pPr>
            <a:r>
              <a:rPr sz="1400" b="1">
                <a:solidFill>
                  <a:srgbClr val="3070B3"/>
                </a:solidFill>
                <a:latin typeface="Arial"/>
              </a:rPr>
              <a:t>Why not rely only on MPCC</a:t>
            </a:r>
          </a:p>
          <a:p>
            <a:pPr algn="l">
              <a:lnSpc>
                <a:spcPct val="100000"/>
              </a:lnSpc>
              <a:spcBef>
                <a:spcPts val="0"/>
              </a:spcBef>
              <a:spcAft>
                <a:spcPts val="200"/>
              </a:spcAft>
            </a:pPr>
            <a:r>
              <a:rPr sz="1150" b="0">
                <a:solidFill>
                  <a:srgbClr val="242D35"/>
                </a:solidFill>
                <a:latin typeface="Arial"/>
              </a:rPr>
              <a:t>Spline + OCP is interpretable and structured</a:t>
            </a:r>
          </a:p>
          <a:p>
            <a:pPr algn="l">
              <a:lnSpc>
                <a:spcPct val="100000"/>
              </a:lnSpc>
              <a:spcBef>
                <a:spcPts val="0"/>
              </a:spcBef>
              <a:spcAft>
                <a:spcPts val="200"/>
              </a:spcAft>
            </a:pPr>
            <a:r>
              <a:rPr sz="1150" b="0">
                <a:solidFill>
                  <a:srgbClr val="242D35"/>
                </a:solidFill>
                <a:latin typeface="Arial"/>
              </a:rPr>
              <a:t>But randomized scenes require replanning and constraint tuning</a:t>
            </a:r>
          </a:p>
          <a:p>
            <a:pPr algn="l">
              <a:lnSpc>
                <a:spcPct val="100000"/>
              </a:lnSpc>
              <a:spcBef>
                <a:spcPts val="0"/>
              </a:spcBef>
              <a:spcAft>
                <a:spcPts val="200"/>
              </a:spcAft>
            </a:pPr>
            <a:r>
              <a:rPr sz="1150" b="1">
                <a:solidFill>
                  <a:srgbClr val="C4071B"/>
                </a:solidFill>
                <a:latin typeface="Arial"/>
              </a:rPr>
              <a:t>PPO limitation: reward-sensitive, with no hard collision guarantee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54864" bIns="54864" anchor="t"/>
          <a:lstStyle/>
          <a:p>
            <a:pPr algn="l">
              <a:lnSpc>
                <a:spcPct val="100000"/>
              </a:lnSpc>
              <a:spcBef>
                <a:spcPts val="0"/>
              </a:spcBef>
              <a:spcAft>
                <a:spcPts val="0"/>
              </a:spcAft>
            </a:pPr>
            <a:r>
              <a:rPr sz="2500" b="1">
                <a:solidFill>
                  <a:srgbClr val="242D35"/>
                </a:solidFill>
                <a:latin typeface="Arial"/>
              </a:rPr>
              <a:t>Observation and reward design make racing learnable</a:t>
            </a:r>
          </a:p>
        </p:txBody>
      </p:sp>
      <p:sp>
        <p:nvSpPr>
          <p:cNvPr id="3" name="Content Placeholder 2"/>
          <p:cNvSpPr>
            <a:spLocks noGrp="1"/>
          </p:cNvSpPr>
          <p:nvPr>
            <p:ph idx="10" sz="quarter"/>
          </p:nvPr>
        </p:nvSpPr>
        <p:spPr/>
        <p:txBody>
          <a:bodyPr/>
          <a:lstStyle/>
          <a:p/>
        </p:txBody>
      </p:sp>
      <p:sp>
        <p:nvSpPr>
          <p:cNvPr id="4" name="Text Placeholder 3"/>
          <p:cNvSpPr>
            <a:spLocks noGrp="1"/>
          </p:cNvSpPr>
          <p:nvPr>
            <p:ph type="body" idx="11" sz="quarter"/>
          </p:nvPr>
        </p:nvSpPr>
        <p:spPr/>
        <p:txBody>
          <a:bodyPr wrap="square" lIns="54864" rIns="54864" tIns="54864" bIns="54864" anchor="ctr"/>
          <a:lstStyle/>
          <a:p>
            <a:pPr algn="r">
              <a:lnSpc>
                <a:spcPct val="100000"/>
              </a:lnSpc>
              <a:spcBef>
                <a:spcPts val="0"/>
              </a:spcBef>
              <a:spcAft>
                <a:spcPts val="0"/>
              </a:spcAft>
            </a:pPr>
            <a:r>
              <a:rPr sz="850" b="0">
                <a:solidFill>
                  <a:srgbClr val="707A82"/>
                </a:solidFill>
                <a:latin typeface="Arial"/>
              </a:rPr>
              <a:t>Xiaochen Miao  |  Progress Presentation SS26  |  2/5</a:t>
            </a:r>
          </a:p>
        </p:txBody>
      </p:sp>
      <p:sp>
        <p:nvSpPr>
          <p:cNvPr id="5" name="Text Placeholder 4"/>
          <p:cNvSpPr>
            <a:spLocks noGrp="1"/>
          </p:cNvSpPr>
          <p:nvPr>
            <p:ph type="body" idx="12" sz="quarter"/>
          </p:nvPr>
        </p:nvSpPr>
        <p:spPr/>
        <p:txBody>
          <a:bodyPr wrap="square" lIns="54864" rIns="54864" tIns="54864" bIns="54864" anchor="t"/>
          <a:lstStyle/>
          <a:p>
            <a:pPr algn="l">
              <a:lnSpc>
                <a:spcPct val="100000"/>
              </a:lnSpc>
              <a:spcBef>
                <a:spcPts val="0"/>
              </a:spcBef>
              <a:spcAft>
                <a:spcPts val="0"/>
              </a:spcAft>
            </a:pPr>
            <a:r>
              <a:rPr sz="1000" b="1">
                <a:solidFill>
                  <a:srgbClr val="3070B3"/>
                </a:solidFill>
                <a:latin typeface="Arial"/>
              </a:rPr>
              <a:t>METHODOLOGY / 2 OF 3</a:t>
            </a:r>
          </a:p>
        </p:txBody>
      </p:sp>
      <p:sp>
        <p:nvSpPr>
          <p:cNvPr id="6" name="TextBox 5"/>
          <p:cNvSpPr txBox="1"/>
          <p:nvPr/>
        </p:nvSpPr>
        <p:spPr>
          <a:xfrm>
            <a:off x="594360" y="1325880"/>
            <a:ext cx="5394960" cy="320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42D35"/>
                </a:solidFill>
                <a:latin typeface="Arial"/>
              </a:rPr>
              <a:t>103-D body-frame observation</a:t>
            </a:r>
          </a:p>
        </p:txBody>
      </p:sp>
      <p:sp>
        <p:nvSpPr>
          <p:cNvPr id="7" name="Rectangle 6"/>
          <p:cNvSpPr/>
          <p:nvPr/>
        </p:nvSpPr>
        <p:spPr>
          <a:xfrm>
            <a:off x="594360" y="1764792"/>
            <a:ext cx="897976" cy="576072"/>
          </a:xfrm>
          <a:prstGeom prst="rect">
            <a:avLst/>
          </a:prstGeom>
          <a:solidFill>
            <a:srgbClr val="3070B3"/>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1200" b="1">
                <a:solidFill>
                  <a:srgbClr val="FFFFFF"/>
                </a:solidFill>
                <a:latin typeface="Arial"/>
              </a:rPr>
              <a:t>17</a:t>
            </a:r>
          </a:p>
        </p:txBody>
      </p:sp>
      <p:sp>
        <p:nvSpPr>
          <p:cNvPr id="8" name="Rectangle 7"/>
          <p:cNvSpPr/>
          <p:nvPr/>
        </p:nvSpPr>
        <p:spPr>
          <a:xfrm>
            <a:off x="1492336" y="1764792"/>
            <a:ext cx="1901596" cy="576072"/>
          </a:xfrm>
          <a:prstGeom prst="rect">
            <a:avLst/>
          </a:prstGeom>
          <a:solidFill>
            <a:srgbClr val="7AB8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1200" b="1">
                <a:solidFill>
                  <a:srgbClr val="FFFFFF"/>
                </a:solidFill>
                <a:latin typeface="Arial"/>
              </a:rPr>
              <a:t>36</a:t>
            </a:r>
          </a:p>
        </p:txBody>
      </p:sp>
      <p:sp>
        <p:nvSpPr>
          <p:cNvPr id="9" name="Rectangle 8"/>
          <p:cNvSpPr/>
          <p:nvPr/>
        </p:nvSpPr>
        <p:spPr>
          <a:xfrm>
            <a:off x="3393933" y="1764792"/>
            <a:ext cx="1056442" cy="576072"/>
          </a:xfrm>
          <a:prstGeom prst="rect">
            <a:avLst/>
          </a:prstGeom>
          <a:solidFill>
            <a:srgbClr val="E3722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1200" b="1">
                <a:solidFill>
                  <a:srgbClr val="FFFFFF"/>
                </a:solidFill>
                <a:latin typeface="Arial"/>
              </a:rPr>
              <a:t>20</a:t>
            </a:r>
          </a:p>
        </p:txBody>
      </p:sp>
      <p:sp>
        <p:nvSpPr>
          <p:cNvPr id="10" name="Rectangle 9"/>
          <p:cNvSpPr/>
          <p:nvPr/>
        </p:nvSpPr>
        <p:spPr>
          <a:xfrm>
            <a:off x="4450375" y="1764792"/>
            <a:ext cx="1584664" cy="576072"/>
          </a:xfrm>
          <a:prstGeom prst="rect">
            <a:avLst/>
          </a:prstGeom>
          <a:solidFill>
            <a:srgbClr val="745DA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1200" b="1">
                <a:solidFill>
                  <a:srgbClr val="FFFFFF"/>
                </a:solidFill>
                <a:latin typeface="Arial"/>
              </a:rPr>
              <a:t>30</a:t>
            </a:r>
          </a:p>
        </p:txBody>
      </p:sp>
      <p:sp>
        <p:nvSpPr>
          <p:cNvPr id="11" name="Rounded Rectangle 10"/>
          <p:cNvSpPr/>
          <p:nvPr/>
        </p:nvSpPr>
        <p:spPr>
          <a:xfrm>
            <a:off x="594360" y="2523744"/>
            <a:ext cx="5440680" cy="530352"/>
          </a:xfrm>
          <a:prstGeom prst="roundRect">
            <a:avLst/>
          </a:prstGeom>
          <a:solidFill>
            <a:srgbClr val="FFFFFF"/>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050" b="1">
                <a:solidFill>
                  <a:srgbClr val="3070B3"/>
                </a:solidFill>
                <a:latin typeface="Arial"/>
              </a:rPr>
              <a:t>State + progress  (17D)</a:t>
            </a:r>
          </a:p>
          <a:p>
            <a:pPr algn="l">
              <a:lnSpc>
                <a:spcPct val="100000"/>
              </a:lnSpc>
              <a:spcAft>
                <a:spcPts val="0"/>
              </a:spcAft>
            </a:pPr>
            <a:r>
              <a:rPr sz="940">
                <a:solidFill>
                  <a:srgbClr val="242D35"/>
                </a:solidFill>
                <a:latin typeface="Arial"/>
              </a:rPr>
              <a:t>height, body velocity, angular velocity, rotation, target progress</a:t>
            </a:r>
          </a:p>
        </p:txBody>
      </p:sp>
      <p:sp>
        <p:nvSpPr>
          <p:cNvPr id="12" name="Rounded Rectangle 11"/>
          <p:cNvSpPr/>
          <p:nvPr/>
        </p:nvSpPr>
        <p:spPr>
          <a:xfrm>
            <a:off x="594360" y="3154679"/>
            <a:ext cx="5440680" cy="530352"/>
          </a:xfrm>
          <a:prstGeom prst="roundRect">
            <a:avLst/>
          </a:prstGeom>
          <a:solidFill>
            <a:srgbClr val="FFFFFF"/>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050" b="1">
                <a:solidFill>
                  <a:srgbClr val="7AB800"/>
                </a:solidFill>
                <a:latin typeface="Arial"/>
              </a:rPr>
              <a:t>Gate geometry  (36D)</a:t>
            </a:r>
          </a:p>
          <a:p>
            <a:pPr algn="l">
              <a:lnSpc>
                <a:spcPct val="100000"/>
              </a:lnSpc>
              <a:spcAft>
                <a:spcPts val="0"/>
              </a:spcAft>
            </a:pPr>
            <a:r>
              <a:rPr sz="940">
                <a:solidFill>
                  <a:srgbClr val="242D35"/>
                </a:solidFill>
                <a:latin typeface="Arial"/>
              </a:rPr>
              <a:t>previous, current and next gate corners in the drone frame</a:t>
            </a:r>
          </a:p>
        </p:txBody>
      </p:sp>
      <p:sp>
        <p:nvSpPr>
          <p:cNvPr id="13" name="Rounded Rectangle 12"/>
          <p:cNvSpPr/>
          <p:nvPr/>
        </p:nvSpPr>
        <p:spPr>
          <a:xfrm>
            <a:off x="594360" y="3785615"/>
            <a:ext cx="5440680" cy="530352"/>
          </a:xfrm>
          <a:prstGeom prst="roundRect">
            <a:avLst/>
          </a:prstGeom>
          <a:solidFill>
            <a:srgbClr val="FFFFFF"/>
          </a:solidFill>
          <a:ln w="15240">
            <a:solidFill>
              <a:srgbClr val="E37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050" b="1">
                <a:solidFill>
                  <a:srgbClr val="E37222"/>
                </a:solidFill>
                <a:latin typeface="Arial"/>
              </a:rPr>
              <a:t>Obstacles + visits  (20D)</a:t>
            </a:r>
          </a:p>
          <a:p>
            <a:pPr algn="l">
              <a:lnSpc>
                <a:spcPct val="100000"/>
              </a:lnSpc>
              <a:spcAft>
                <a:spcPts val="0"/>
              </a:spcAft>
            </a:pPr>
            <a:r>
              <a:rPr sz="940">
                <a:solidFill>
                  <a:srgbClr val="242D35"/>
                </a:solidFill>
                <a:latin typeface="Arial"/>
              </a:rPr>
              <a:t>relative obstacle positions plus visited gate/obstacle flags</a:t>
            </a:r>
          </a:p>
        </p:txBody>
      </p:sp>
      <p:sp>
        <p:nvSpPr>
          <p:cNvPr id="14" name="Rounded Rectangle 13"/>
          <p:cNvSpPr/>
          <p:nvPr/>
        </p:nvSpPr>
        <p:spPr>
          <a:xfrm>
            <a:off x="594360" y="4416552"/>
            <a:ext cx="5440680" cy="530352"/>
          </a:xfrm>
          <a:prstGeom prst="roundRect">
            <a:avLst/>
          </a:prstGeom>
          <a:solidFill>
            <a:srgbClr val="FFFFFF"/>
          </a:solidFill>
          <a:ln w="15240">
            <a:solidFill>
              <a:srgbClr val="745DA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050" b="1">
                <a:solidFill>
                  <a:srgbClr val="745DA0"/>
                </a:solidFill>
                <a:latin typeface="Arial"/>
              </a:rPr>
              <a:t>Action + history  (30D)</a:t>
            </a:r>
          </a:p>
          <a:p>
            <a:pPr algn="l">
              <a:lnSpc>
                <a:spcPct val="100000"/>
              </a:lnSpc>
              <a:spcAft>
                <a:spcPts val="0"/>
              </a:spcAft>
            </a:pPr>
            <a:r>
              <a:rPr sz="940">
                <a:solidFill>
                  <a:srgbClr val="242D35"/>
                </a:solidFill>
                <a:latin typeface="Arial"/>
              </a:rPr>
              <a:t>previous normalized action plus two 13-D state-history samples</a:t>
            </a:r>
          </a:p>
        </p:txBody>
      </p:sp>
      <p:sp>
        <p:nvSpPr>
          <p:cNvPr id="15" name="Rounded Rectangle 14"/>
          <p:cNvSpPr/>
          <p:nvPr/>
        </p:nvSpPr>
        <p:spPr>
          <a:xfrm>
            <a:off x="594360" y="5202936"/>
            <a:ext cx="5440680" cy="566928"/>
          </a:xfrm>
          <a:prstGeom prst="roundRect">
            <a:avLst/>
          </a:prstGeom>
          <a:solidFill>
            <a:srgbClr val="EEF7DE"/>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050" b="1">
                <a:solidFill>
                  <a:srgbClr val="7AB800"/>
                </a:solidFill>
                <a:latin typeface="Arial"/>
              </a:rPr>
              <a:t>4-D normalized action</a:t>
            </a:r>
          </a:p>
          <a:p>
            <a:pPr algn="l">
              <a:lnSpc>
                <a:spcPct val="100000"/>
              </a:lnSpc>
              <a:spcAft>
                <a:spcPts val="0"/>
              </a:spcAft>
            </a:pPr>
            <a:r>
              <a:rPr sz="969">
                <a:solidFill>
                  <a:srgbClr val="242D35"/>
                </a:solidFill>
                <a:latin typeface="Arial"/>
              </a:rPr>
              <a:t>roll | pitch | yaw | thrust  -&gt;  scaled to the attitude controller limits</a:t>
            </a:r>
          </a:p>
        </p:txBody>
      </p:sp>
      <p:sp>
        <p:nvSpPr>
          <p:cNvPr id="16" name="TextBox 15"/>
          <p:cNvSpPr txBox="1"/>
          <p:nvPr/>
        </p:nvSpPr>
        <p:spPr>
          <a:xfrm>
            <a:off x="6419088" y="1325880"/>
            <a:ext cx="5166360" cy="320040"/>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500" b="1">
                <a:solidFill>
                  <a:srgbClr val="242D35"/>
                </a:solidFill>
                <a:latin typeface="Arial"/>
              </a:rPr>
              <a:t>Shaped reward follows a gate-passing sequence</a:t>
            </a:r>
          </a:p>
        </p:txBody>
      </p:sp>
      <p:sp>
        <p:nvSpPr>
          <p:cNvPr id="17" name="Rounded Rectangle 16"/>
          <p:cNvSpPr/>
          <p:nvPr/>
        </p:nvSpPr>
        <p:spPr>
          <a:xfrm>
            <a:off x="6419088" y="1773936"/>
            <a:ext cx="1115568" cy="960120"/>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919" b="1">
                <a:solidFill>
                  <a:srgbClr val="3070B3"/>
                </a:solidFill>
                <a:latin typeface="Arial"/>
              </a:rPr>
              <a:t>APPROACH</a:t>
            </a:r>
          </a:p>
          <a:p>
            <a:pPr algn="ctr">
              <a:lnSpc>
                <a:spcPct val="100000"/>
              </a:lnSpc>
              <a:spcAft>
                <a:spcPts val="0"/>
              </a:spcAft>
            </a:pPr>
            <a:r>
              <a:rPr sz="900">
                <a:solidFill>
                  <a:srgbClr val="242D35"/>
                </a:solidFill>
                <a:latin typeface="Arial"/>
              </a:rPr>
              <a:t>axis progress</a:t>
            </a:r>
          </a:p>
        </p:txBody>
      </p:sp>
      <p:sp>
        <p:nvSpPr>
          <p:cNvPr id="18" name="Chevron 17"/>
          <p:cNvSpPr/>
          <p:nvPr/>
        </p:nvSpPr>
        <p:spPr>
          <a:xfrm>
            <a:off x="7571231" y="2075688"/>
            <a:ext cx="128016" cy="274320"/>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44968" y="1773936"/>
            <a:ext cx="1115568" cy="960120"/>
          </a:xfrm>
          <a:prstGeom prst="roundRect">
            <a:avLst/>
          </a:prstGeom>
          <a:solidFill>
            <a:srgbClr val="E8F1F9"/>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919" b="1">
                <a:solidFill>
                  <a:srgbClr val="3070B3"/>
                </a:solidFill>
                <a:latin typeface="Arial"/>
              </a:rPr>
              <a:t>CENTER</a:t>
            </a:r>
          </a:p>
          <a:p>
            <a:pPr algn="ctr">
              <a:lnSpc>
                <a:spcPct val="100000"/>
              </a:lnSpc>
              <a:spcAft>
                <a:spcPts val="0"/>
              </a:spcAft>
            </a:pPr>
            <a:r>
              <a:rPr sz="900">
                <a:solidFill>
                  <a:srgbClr val="242D35"/>
                </a:solidFill>
                <a:latin typeface="Arial"/>
              </a:rPr>
              <a:t>gate stage</a:t>
            </a:r>
          </a:p>
        </p:txBody>
      </p:sp>
      <p:sp>
        <p:nvSpPr>
          <p:cNvPr id="20" name="Chevron 19"/>
          <p:cNvSpPr/>
          <p:nvPr/>
        </p:nvSpPr>
        <p:spPr>
          <a:xfrm>
            <a:off x="8897112" y="2075688"/>
            <a:ext cx="128016" cy="274320"/>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70848" y="1773936"/>
            <a:ext cx="1115568" cy="960120"/>
          </a:xfrm>
          <a:prstGeom prst="roundRect">
            <a:avLst/>
          </a:prstGeom>
          <a:solidFill>
            <a:srgbClr val="EEF7DE"/>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919" b="1">
                <a:solidFill>
                  <a:srgbClr val="7AB800"/>
                </a:solidFill>
                <a:latin typeface="Arial"/>
              </a:rPr>
              <a:t>PASS</a:t>
            </a:r>
          </a:p>
          <a:p>
            <a:pPr algn="ctr">
              <a:lnSpc>
                <a:spcPct val="100000"/>
              </a:lnSpc>
              <a:spcAft>
                <a:spcPts val="0"/>
              </a:spcAft>
            </a:pPr>
            <a:r>
              <a:rPr sz="900">
                <a:solidFill>
                  <a:srgbClr val="242D35"/>
                </a:solidFill>
                <a:latin typeface="Arial"/>
              </a:rPr>
              <a:t>pass bonus</a:t>
            </a:r>
          </a:p>
        </p:txBody>
      </p:sp>
      <p:sp>
        <p:nvSpPr>
          <p:cNvPr id="22" name="Chevron 21"/>
          <p:cNvSpPr/>
          <p:nvPr/>
        </p:nvSpPr>
        <p:spPr>
          <a:xfrm>
            <a:off x="10222992" y="2075688"/>
            <a:ext cx="128016" cy="274320"/>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396728" y="1773936"/>
            <a:ext cx="1115568" cy="960120"/>
          </a:xfrm>
          <a:prstGeom prst="roundRect">
            <a:avLst/>
          </a:prstGeom>
          <a:solidFill>
            <a:srgbClr val="EEF7DE"/>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ctr">
              <a:lnSpc>
                <a:spcPct val="100000"/>
              </a:lnSpc>
              <a:spcAft>
                <a:spcPts val="500"/>
              </a:spcAft>
            </a:pPr>
            <a:r>
              <a:rPr sz="919" b="1">
                <a:solidFill>
                  <a:srgbClr val="7AB800"/>
                </a:solidFill>
                <a:latin typeface="Arial"/>
              </a:rPr>
              <a:t>EXIT</a:t>
            </a:r>
          </a:p>
          <a:p>
            <a:pPr algn="ctr">
              <a:lnSpc>
                <a:spcPct val="100000"/>
              </a:lnSpc>
              <a:spcAft>
                <a:spcPts val="0"/>
              </a:spcAft>
            </a:pPr>
            <a:r>
              <a:rPr sz="900">
                <a:solidFill>
                  <a:srgbClr val="242D35"/>
                </a:solidFill>
                <a:latin typeface="Arial"/>
              </a:rPr>
              <a:t>back-gate bonus</a:t>
            </a:r>
          </a:p>
        </p:txBody>
      </p:sp>
      <p:sp>
        <p:nvSpPr>
          <p:cNvPr id="24" name="Rounded Rectangle 23"/>
          <p:cNvSpPr/>
          <p:nvPr/>
        </p:nvSpPr>
        <p:spPr>
          <a:xfrm>
            <a:off x="6419088" y="2999232"/>
            <a:ext cx="2487168" cy="1993392"/>
          </a:xfrm>
          <a:prstGeom prst="roundRect">
            <a:avLst/>
          </a:prstGeom>
          <a:solidFill>
            <a:srgbClr val="EEF7DE"/>
          </a:solidFill>
          <a:ln w="1397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lnSpc>
                <a:spcPct val="100000"/>
              </a:lnSpc>
              <a:spcBef>
                <a:spcPts val="0"/>
              </a:spcBef>
              <a:spcAft>
                <a:spcPts val="500"/>
              </a:spcAft>
            </a:pPr>
            <a:r>
              <a:rPr sz="1300" b="1">
                <a:solidFill>
                  <a:srgbClr val="7AB800"/>
                </a:solidFill>
                <a:latin typeface="Arial"/>
              </a:rPr>
              <a:t>Positive signals</a:t>
            </a:r>
          </a:p>
          <a:p>
            <a:pPr algn="l">
              <a:lnSpc>
                <a:spcPct val="100000"/>
              </a:lnSpc>
              <a:spcBef>
                <a:spcPts val="0"/>
              </a:spcBef>
              <a:spcAft>
                <a:spcPts val="200"/>
              </a:spcAft>
            </a:pPr>
            <a:r>
              <a:rPr sz="1080" b="0">
                <a:solidFill>
                  <a:srgbClr val="242D35"/>
                </a:solidFill>
                <a:latin typeface="Arial"/>
              </a:rPr>
              <a:t>Gate-axis / stage progress</a:t>
            </a:r>
          </a:p>
          <a:p>
            <a:pPr algn="l">
              <a:lnSpc>
                <a:spcPct val="100000"/>
              </a:lnSpc>
              <a:spcBef>
                <a:spcPts val="0"/>
              </a:spcBef>
              <a:spcAft>
                <a:spcPts val="200"/>
              </a:spcAft>
            </a:pPr>
            <a:r>
              <a:rPr sz="1080" b="0">
                <a:solidFill>
                  <a:srgbClr val="242D35"/>
                </a:solidFill>
                <a:latin typeface="Arial"/>
              </a:rPr>
              <a:t>Gate pass + finish bonus</a:t>
            </a:r>
          </a:p>
          <a:p>
            <a:pPr algn="l">
              <a:lnSpc>
                <a:spcPct val="100000"/>
              </a:lnSpc>
              <a:spcBef>
                <a:spcPts val="0"/>
              </a:spcBef>
              <a:spcAft>
                <a:spcPts val="200"/>
              </a:spcAft>
            </a:pPr>
            <a:r>
              <a:rPr sz="1080" b="0">
                <a:solidFill>
                  <a:srgbClr val="242D35"/>
                </a:solidFill>
                <a:latin typeface="Arial"/>
              </a:rPr>
              <a:t>Fast completion</a:t>
            </a:r>
          </a:p>
        </p:txBody>
      </p:sp>
      <p:sp>
        <p:nvSpPr>
          <p:cNvPr id="25" name="Rounded Rectangle 24"/>
          <p:cNvSpPr/>
          <p:nvPr/>
        </p:nvSpPr>
        <p:spPr>
          <a:xfrm>
            <a:off x="9098280" y="2999232"/>
            <a:ext cx="2487168" cy="1993392"/>
          </a:xfrm>
          <a:prstGeom prst="roundRect">
            <a:avLst/>
          </a:prstGeom>
          <a:solidFill>
            <a:srgbClr val="FCEEF0"/>
          </a:solidFill>
          <a:ln w="13970">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lnSpc>
                <a:spcPct val="100000"/>
              </a:lnSpc>
              <a:spcBef>
                <a:spcPts val="0"/>
              </a:spcBef>
              <a:spcAft>
                <a:spcPts val="500"/>
              </a:spcAft>
            </a:pPr>
            <a:r>
              <a:rPr sz="1300" b="1">
                <a:solidFill>
                  <a:srgbClr val="C4071B"/>
                </a:solidFill>
                <a:latin typeface="Arial"/>
              </a:rPr>
              <a:t>Safety + smoothness costs</a:t>
            </a:r>
          </a:p>
          <a:p>
            <a:pPr algn="l">
              <a:lnSpc>
                <a:spcPct val="100000"/>
              </a:lnSpc>
              <a:spcBef>
                <a:spcPts val="0"/>
              </a:spcBef>
              <a:spcAft>
                <a:spcPts val="200"/>
              </a:spcAft>
            </a:pPr>
            <a:r>
              <a:rPr sz="1080" b="0">
                <a:solidFill>
                  <a:srgbClr val="242D35"/>
                </a:solidFill>
                <a:latin typeface="Arial"/>
              </a:rPr>
              <a:t>Crash / obstacle proximity</a:t>
            </a:r>
          </a:p>
          <a:p>
            <a:pPr algn="l">
              <a:lnSpc>
                <a:spcPct val="100000"/>
              </a:lnSpc>
              <a:spcBef>
                <a:spcPts val="0"/>
              </a:spcBef>
              <a:spcAft>
                <a:spcPts val="200"/>
              </a:spcAft>
            </a:pPr>
            <a:r>
              <a:rPr sz="1080" b="0">
                <a:solidFill>
                  <a:srgbClr val="242D35"/>
                </a:solidFill>
                <a:latin typeface="Arial"/>
              </a:rPr>
              <a:t>Tilt and command tilt</a:t>
            </a:r>
          </a:p>
          <a:p>
            <a:pPr algn="l">
              <a:lnSpc>
                <a:spcPct val="100000"/>
              </a:lnSpc>
              <a:spcBef>
                <a:spcPts val="0"/>
              </a:spcBef>
              <a:spcAft>
                <a:spcPts val="200"/>
              </a:spcAft>
            </a:pPr>
            <a:r>
              <a:rPr sz="1080" b="0">
                <a:solidFill>
                  <a:srgbClr val="242D35"/>
                </a:solidFill>
                <a:latin typeface="Arial"/>
              </a:rPr>
              <a:t>Action changes + time</a:t>
            </a:r>
          </a:p>
        </p:txBody>
      </p:sp>
      <p:sp>
        <p:nvSpPr>
          <p:cNvPr id="26" name="Rounded Rectangle 25"/>
          <p:cNvSpPr/>
          <p:nvPr/>
        </p:nvSpPr>
        <p:spPr>
          <a:xfrm>
            <a:off x="6419088" y="5266944"/>
            <a:ext cx="5166360" cy="384048"/>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880" b="1">
                <a:solidFill>
                  <a:srgbClr val="FFFFFF"/>
                </a:solidFill>
                <a:latin typeface="Arial"/>
              </a:rPr>
              <a:t>BODY-FRAME GEOMETRY REDUCES GLOBAL-COORDINATE DEPENDENCE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54864" bIns="54864" anchor="t"/>
          <a:lstStyle/>
          <a:p>
            <a:pPr algn="l">
              <a:lnSpc>
                <a:spcPct val="100000"/>
              </a:lnSpc>
              <a:spcBef>
                <a:spcPts val="0"/>
              </a:spcBef>
              <a:spcAft>
                <a:spcPts val="0"/>
              </a:spcAft>
            </a:pPr>
            <a:r>
              <a:rPr sz="2500" b="1">
                <a:solidFill>
                  <a:srgbClr val="242D35"/>
                </a:solidFill>
                <a:latin typeface="Arial"/>
              </a:rPr>
              <a:t>Training is paired with reproducible diagnosis</a:t>
            </a:r>
          </a:p>
        </p:txBody>
      </p:sp>
      <p:sp>
        <p:nvSpPr>
          <p:cNvPr id="3" name="Content Placeholder 2"/>
          <p:cNvSpPr>
            <a:spLocks noGrp="1"/>
          </p:cNvSpPr>
          <p:nvPr>
            <p:ph idx="10" sz="quarter"/>
          </p:nvPr>
        </p:nvSpPr>
        <p:spPr/>
        <p:txBody>
          <a:bodyPr/>
          <a:lstStyle/>
          <a:p/>
        </p:txBody>
      </p:sp>
      <p:sp>
        <p:nvSpPr>
          <p:cNvPr id="4" name="Text Placeholder 3"/>
          <p:cNvSpPr>
            <a:spLocks noGrp="1"/>
          </p:cNvSpPr>
          <p:nvPr>
            <p:ph type="body" idx="11" sz="quarter"/>
          </p:nvPr>
        </p:nvSpPr>
        <p:spPr/>
        <p:txBody>
          <a:bodyPr wrap="square" lIns="54864" rIns="54864" tIns="54864" bIns="54864" anchor="ctr"/>
          <a:lstStyle/>
          <a:p>
            <a:pPr algn="r">
              <a:lnSpc>
                <a:spcPct val="100000"/>
              </a:lnSpc>
              <a:spcBef>
                <a:spcPts val="0"/>
              </a:spcBef>
              <a:spcAft>
                <a:spcPts val="0"/>
              </a:spcAft>
            </a:pPr>
            <a:r>
              <a:rPr sz="850" b="0">
                <a:solidFill>
                  <a:srgbClr val="707A82"/>
                </a:solidFill>
                <a:latin typeface="Arial"/>
              </a:rPr>
              <a:t>Xiaochen Miao  |  Progress Presentation SS26  |  3/5</a:t>
            </a:r>
          </a:p>
        </p:txBody>
      </p:sp>
      <p:sp>
        <p:nvSpPr>
          <p:cNvPr id="5" name="Text Placeholder 4"/>
          <p:cNvSpPr>
            <a:spLocks noGrp="1"/>
          </p:cNvSpPr>
          <p:nvPr>
            <p:ph type="body" idx="12" sz="quarter"/>
          </p:nvPr>
        </p:nvSpPr>
        <p:spPr/>
        <p:txBody>
          <a:bodyPr wrap="square" lIns="54864" rIns="54864" tIns="54864" bIns="54864" anchor="t"/>
          <a:lstStyle/>
          <a:p>
            <a:pPr algn="l">
              <a:lnSpc>
                <a:spcPct val="100000"/>
              </a:lnSpc>
              <a:spcBef>
                <a:spcPts val="0"/>
              </a:spcBef>
              <a:spcAft>
                <a:spcPts val="0"/>
              </a:spcAft>
            </a:pPr>
            <a:r>
              <a:rPr sz="1000" b="1">
                <a:solidFill>
                  <a:srgbClr val="3070B3"/>
                </a:solidFill>
                <a:latin typeface="Arial"/>
              </a:rPr>
              <a:t>METHODOLOGY / 3 OF 3</a:t>
            </a:r>
          </a:p>
        </p:txBody>
      </p:sp>
      <p:sp>
        <p:nvSpPr>
          <p:cNvPr id="6" name="Rounded Rectangle 5"/>
          <p:cNvSpPr/>
          <p:nvPr/>
        </p:nvSpPr>
        <p:spPr>
          <a:xfrm>
            <a:off x="502920" y="1371600"/>
            <a:ext cx="6995160" cy="3995928"/>
          </a:xfrm>
          <a:prstGeom prst="roundRect">
            <a:avLst/>
          </a:prstGeom>
          <a:solidFill>
            <a:srgbClr val="FFFFFF"/>
          </a:solidFill>
          <a:ln>
            <a:solidFill>
              <a:srgbClr val="D2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point_success.png"/>
          <p:cNvPicPr>
            <a:picLocks noChangeAspect="1"/>
          </p:cNvPicPr>
          <p:nvPr/>
        </p:nvPicPr>
        <p:blipFill>
          <a:blip r:embed="rId2"/>
          <a:srcRect l="7484" r="7484"/>
          <a:stretch>
            <a:fillRect/>
          </a:stretch>
        </p:blipFill>
        <p:spPr>
          <a:xfrm>
            <a:off x="621792" y="1490472"/>
            <a:ext cx="6757416" cy="3730752"/>
          </a:xfrm>
          <a:prstGeom prst="rect">
            <a:avLst/>
          </a:prstGeom>
        </p:spPr>
      </p:pic>
      <p:sp>
        <p:nvSpPr>
          <p:cNvPr id="8" name="Rounded Rectangle 7"/>
          <p:cNvSpPr/>
          <p:nvPr/>
        </p:nvSpPr>
        <p:spPr>
          <a:xfrm>
            <a:off x="7754112" y="1371600"/>
            <a:ext cx="3913632" cy="877824"/>
          </a:xfrm>
          <a:prstGeom prst="roundRect">
            <a:avLst/>
          </a:prstGeom>
          <a:solidFill>
            <a:srgbClr val="FFFFFF"/>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130" b="1">
                <a:solidFill>
                  <a:srgbClr val="3070B3"/>
                </a:solidFill>
                <a:latin typeface="Arial"/>
              </a:rPr>
              <a:t>1  Parallel simulation</a:t>
            </a:r>
          </a:p>
          <a:p>
            <a:pPr algn="l">
              <a:lnSpc>
                <a:spcPct val="100000"/>
              </a:lnSpc>
              <a:spcAft>
                <a:spcPts val="0"/>
              </a:spcAft>
            </a:pPr>
            <a:r>
              <a:rPr sz="1000">
                <a:solidFill>
                  <a:srgbClr val="242D35"/>
                </a:solidFill>
                <a:latin typeface="Arial"/>
              </a:rPr>
              <a:t>1,024 Crazyflow environments on GPU</a:t>
            </a:r>
          </a:p>
        </p:txBody>
      </p:sp>
      <p:sp>
        <p:nvSpPr>
          <p:cNvPr id="9" name="Rounded Rectangle 8"/>
          <p:cNvSpPr/>
          <p:nvPr/>
        </p:nvSpPr>
        <p:spPr>
          <a:xfrm>
            <a:off x="7754112" y="2395728"/>
            <a:ext cx="3913632" cy="877824"/>
          </a:xfrm>
          <a:prstGeom prst="roundRect">
            <a:avLst/>
          </a:prstGeom>
          <a:solidFill>
            <a:srgbClr val="FFFFFF"/>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130" b="1">
                <a:solidFill>
                  <a:srgbClr val="7AB800"/>
                </a:solidFill>
                <a:latin typeface="Arial"/>
              </a:rPr>
              <a:t>2  PPO update</a:t>
            </a:r>
          </a:p>
          <a:p>
            <a:pPr algn="l">
              <a:lnSpc>
                <a:spcPct val="100000"/>
              </a:lnSpc>
              <a:spcAft>
                <a:spcPts val="0"/>
              </a:spcAft>
            </a:pPr>
            <a:r>
              <a:rPr sz="1000">
                <a:solidFill>
                  <a:srgbClr val="242D35"/>
                </a:solidFill>
                <a:latin typeface="Arial"/>
              </a:rPr>
              <a:t>32-step rollouts, GAE, actor-critic optimization</a:t>
            </a:r>
          </a:p>
        </p:txBody>
      </p:sp>
      <p:sp>
        <p:nvSpPr>
          <p:cNvPr id="10" name="Rounded Rectangle 9"/>
          <p:cNvSpPr/>
          <p:nvPr/>
        </p:nvSpPr>
        <p:spPr>
          <a:xfrm>
            <a:off x="7754112" y="3419856"/>
            <a:ext cx="3913632" cy="877824"/>
          </a:xfrm>
          <a:prstGeom prst="roundRect">
            <a:avLst/>
          </a:prstGeom>
          <a:solidFill>
            <a:srgbClr val="FFFFFF"/>
          </a:solidFill>
          <a:ln w="15240">
            <a:solidFill>
              <a:srgbClr val="E37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130" b="1">
                <a:solidFill>
                  <a:srgbClr val="E37222"/>
                </a:solidFill>
                <a:latin typeface="Arial"/>
              </a:rPr>
              <a:t>3  Checkpoint sweep</a:t>
            </a:r>
          </a:p>
          <a:p>
            <a:pPr algn="l">
              <a:lnSpc>
                <a:spcPct val="100000"/>
              </a:lnSpc>
              <a:spcAft>
                <a:spcPts val="0"/>
              </a:spcAft>
            </a:pPr>
            <a:r>
              <a:rPr sz="1000">
                <a:solidFill>
                  <a:srgbClr val="242D35"/>
                </a:solidFill>
                <a:latin typeface="Arial"/>
              </a:rPr>
              <a:t>Save every 10M steps; evaluate deterministic policy</a:t>
            </a:r>
          </a:p>
        </p:txBody>
      </p:sp>
      <p:sp>
        <p:nvSpPr>
          <p:cNvPr id="11" name="Rounded Rectangle 10"/>
          <p:cNvSpPr/>
          <p:nvPr/>
        </p:nvSpPr>
        <p:spPr>
          <a:xfrm>
            <a:off x="7754112" y="4443984"/>
            <a:ext cx="3913632" cy="877824"/>
          </a:xfrm>
          <a:prstGeom prst="roundRect">
            <a:avLst/>
          </a:prstGeom>
          <a:solidFill>
            <a:srgbClr val="FFFFFF"/>
          </a:solidFill>
          <a:ln w="15240">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130" b="1">
                <a:solidFill>
                  <a:srgbClr val="C4071B"/>
                </a:solidFill>
                <a:latin typeface="Arial"/>
              </a:rPr>
              <a:t>4  Failure diagnosis</a:t>
            </a:r>
          </a:p>
          <a:p>
            <a:pPr algn="l">
              <a:lnSpc>
                <a:spcPct val="100000"/>
              </a:lnSpc>
              <a:spcAft>
                <a:spcPts val="0"/>
              </a:spcAft>
            </a:pPr>
            <a:r>
              <a:rPr sz="1000">
                <a:solidFill>
                  <a:srgbClr val="242D35"/>
                </a:solidFill>
                <a:latin typeface="Arial"/>
              </a:rPr>
              <a:t>Fixed seeds + crash-object and hotspot analysis</a:t>
            </a:r>
          </a:p>
        </p:txBody>
      </p:sp>
      <p:sp>
        <p:nvSpPr>
          <p:cNvPr id="12" name="Rounded Rectangle 11"/>
          <p:cNvSpPr/>
          <p:nvPr/>
        </p:nvSpPr>
        <p:spPr>
          <a:xfrm>
            <a:off x="7754112" y="5468112"/>
            <a:ext cx="1874519" cy="603504"/>
          </a:xfrm>
          <a:prstGeom prst="roundRect">
            <a:avLst/>
          </a:prstGeom>
          <a:solidFill>
            <a:srgbClr val="FFFFFF"/>
          </a:solidFill>
          <a:ln w="1905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45552" y="5504688"/>
            <a:ext cx="1691639" cy="25603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3070B3"/>
                </a:solidFill>
                <a:latin typeface="Arial"/>
              </a:rPr>
              <a:t>150M</a:t>
            </a:r>
          </a:p>
        </p:txBody>
      </p:sp>
      <p:sp>
        <p:nvSpPr>
          <p:cNvPr id="14" name="TextBox 13"/>
          <p:cNvSpPr txBox="1"/>
          <p:nvPr/>
        </p:nvSpPr>
        <p:spPr>
          <a:xfrm>
            <a:off x="7872984" y="5788152"/>
            <a:ext cx="1636775"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19" b="0">
                <a:solidFill>
                  <a:srgbClr val="242D35"/>
                </a:solidFill>
                <a:latin typeface="Arial"/>
              </a:rPr>
              <a:t>training steps</a:t>
            </a:r>
          </a:p>
        </p:txBody>
      </p:sp>
      <p:sp>
        <p:nvSpPr>
          <p:cNvPr id="15" name="Rounded Rectangle 14"/>
          <p:cNvSpPr/>
          <p:nvPr/>
        </p:nvSpPr>
        <p:spPr>
          <a:xfrm>
            <a:off x="9793224" y="5468112"/>
            <a:ext cx="1874519" cy="603504"/>
          </a:xfrm>
          <a:prstGeom prst="roundRect">
            <a:avLst/>
          </a:prstGeom>
          <a:solidFill>
            <a:srgbClr val="FFFFFF"/>
          </a:solidFill>
          <a:ln w="1905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84664" y="5504688"/>
            <a:ext cx="1691639" cy="25603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1600" b="1">
                <a:solidFill>
                  <a:srgbClr val="7AB800"/>
                </a:solidFill>
                <a:latin typeface="Arial"/>
              </a:rPr>
              <a:t>2h 26m</a:t>
            </a:r>
          </a:p>
        </p:txBody>
      </p:sp>
      <p:sp>
        <p:nvSpPr>
          <p:cNvPr id="17" name="TextBox 16"/>
          <p:cNvSpPr txBox="1"/>
          <p:nvPr/>
        </p:nvSpPr>
        <p:spPr>
          <a:xfrm>
            <a:off x="9912096" y="5788152"/>
            <a:ext cx="1636775" cy="256032"/>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819" b="0">
                <a:solidFill>
                  <a:srgbClr val="242D35"/>
                </a:solidFill>
                <a:latin typeface="Arial"/>
              </a:rPr>
              <a:t>GPU training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54864" bIns="54864" anchor="t"/>
          <a:lstStyle/>
          <a:p>
            <a:pPr algn="l">
              <a:lnSpc>
                <a:spcPct val="100000"/>
              </a:lnSpc>
              <a:spcBef>
                <a:spcPts val="0"/>
              </a:spcBef>
              <a:spcAft>
                <a:spcPts val="0"/>
              </a:spcAft>
            </a:pPr>
            <a:r>
              <a:rPr sz="2500" b="1">
                <a:solidFill>
                  <a:srgbClr val="242D35"/>
                </a:solidFill>
                <a:latin typeface="Arial"/>
              </a:rPr>
              <a:t>Fast policy achieved; reliability is the remaining gap</a:t>
            </a:r>
          </a:p>
        </p:txBody>
      </p:sp>
      <p:sp>
        <p:nvSpPr>
          <p:cNvPr id="3" name="Content Placeholder 2"/>
          <p:cNvSpPr>
            <a:spLocks noGrp="1"/>
          </p:cNvSpPr>
          <p:nvPr>
            <p:ph idx="10" sz="quarter"/>
          </p:nvPr>
        </p:nvSpPr>
        <p:spPr/>
        <p:txBody>
          <a:bodyPr/>
          <a:lstStyle/>
          <a:p/>
        </p:txBody>
      </p:sp>
      <p:sp>
        <p:nvSpPr>
          <p:cNvPr id="4" name="Text Placeholder 3"/>
          <p:cNvSpPr>
            <a:spLocks noGrp="1"/>
          </p:cNvSpPr>
          <p:nvPr>
            <p:ph type="body" idx="11" sz="quarter"/>
          </p:nvPr>
        </p:nvSpPr>
        <p:spPr/>
        <p:txBody>
          <a:bodyPr wrap="square" lIns="54864" rIns="54864" tIns="54864" bIns="54864" anchor="ctr"/>
          <a:lstStyle/>
          <a:p>
            <a:pPr algn="r">
              <a:lnSpc>
                <a:spcPct val="100000"/>
              </a:lnSpc>
              <a:spcBef>
                <a:spcPts val="0"/>
              </a:spcBef>
              <a:spcAft>
                <a:spcPts val="0"/>
              </a:spcAft>
            </a:pPr>
            <a:r>
              <a:rPr sz="850" b="0">
                <a:solidFill>
                  <a:srgbClr val="707A82"/>
                </a:solidFill>
                <a:latin typeface="Arial"/>
              </a:rPr>
              <a:t>Xiaochen Miao  |  Progress Presentation SS26  |  4/5</a:t>
            </a:r>
          </a:p>
        </p:txBody>
      </p:sp>
      <p:sp>
        <p:nvSpPr>
          <p:cNvPr id="5" name="Text Placeholder 4"/>
          <p:cNvSpPr>
            <a:spLocks noGrp="1"/>
          </p:cNvSpPr>
          <p:nvPr>
            <p:ph type="body" idx="12" sz="quarter"/>
          </p:nvPr>
        </p:nvSpPr>
        <p:spPr/>
        <p:txBody>
          <a:bodyPr wrap="square" lIns="54864" rIns="54864" tIns="54864" bIns="54864" anchor="t"/>
          <a:lstStyle/>
          <a:p>
            <a:pPr algn="l">
              <a:lnSpc>
                <a:spcPct val="100000"/>
              </a:lnSpc>
              <a:spcBef>
                <a:spcPts val="0"/>
              </a:spcBef>
              <a:spcAft>
                <a:spcPts val="0"/>
              </a:spcAft>
            </a:pPr>
            <a:r>
              <a:rPr sz="1000" b="1">
                <a:solidFill>
                  <a:srgbClr val="3070B3"/>
                </a:solidFill>
                <a:latin typeface="Arial"/>
              </a:rPr>
              <a:t>PROGRESS TO DATE</a:t>
            </a:r>
          </a:p>
        </p:txBody>
      </p:sp>
      <p:sp>
        <p:nvSpPr>
          <p:cNvPr id="6" name="Rounded Rectangle 5"/>
          <p:cNvSpPr/>
          <p:nvPr/>
        </p:nvSpPr>
        <p:spPr>
          <a:xfrm>
            <a:off x="502920" y="1371600"/>
            <a:ext cx="2660904" cy="1161288"/>
          </a:xfrm>
          <a:prstGeom prst="roundRect">
            <a:avLst/>
          </a:prstGeom>
          <a:solidFill>
            <a:srgbClr val="FFFFFF"/>
          </a:solidFill>
          <a:ln w="1905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72184"/>
            <a:ext cx="2478024" cy="43891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2500" b="1">
                <a:solidFill>
                  <a:srgbClr val="3070B3"/>
                </a:solidFill>
                <a:latin typeface="Arial"/>
              </a:rPr>
              <a:t>87.5%</a:t>
            </a:r>
          </a:p>
        </p:txBody>
      </p:sp>
      <p:sp>
        <p:nvSpPr>
          <p:cNvPr id="8" name="TextBox 7"/>
          <p:cNvSpPr txBox="1"/>
          <p:nvPr/>
        </p:nvSpPr>
        <p:spPr>
          <a:xfrm>
            <a:off x="621792" y="1984248"/>
            <a:ext cx="2423160" cy="47548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50" b="0">
                <a:solidFill>
                  <a:srgbClr val="242D35"/>
                </a:solidFill>
                <a:latin typeface="Arial"/>
              </a:rPr>
              <a:t>best success rate</a:t>
            </a:r>
            <a:br/>
            <a:r>
              <a:rPr sz="1050" b="0">
                <a:solidFill>
                  <a:srgbClr val="242D35"/>
                </a:solidFill>
                <a:latin typeface="Arial"/>
              </a:rPr>
              <a:t>40 fixed-seed episodes</a:t>
            </a:r>
          </a:p>
        </p:txBody>
      </p:sp>
      <p:sp>
        <p:nvSpPr>
          <p:cNvPr id="9" name="Rounded Rectangle 8"/>
          <p:cNvSpPr/>
          <p:nvPr/>
        </p:nvSpPr>
        <p:spPr>
          <a:xfrm>
            <a:off x="3355848" y="1371600"/>
            <a:ext cx="2660904" cy="1161288"/>
          </a:xfrm>
          <a:prstGeom prst="roundRect">
            <a:avLst/>
          </a:prstGeom>
          <a:solidFill>
            <a:srgbClr val="FFFFFF"/>
          </a:solidFill>
          <a:ln w="1905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1472184"/>
            <a:ext cx="2478024" cy="43891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2500" b="1">
                <a:solidFill>
                  <a:srgbClr val="7AB800"/>
                </a:solidFill>
                <a:latin typeface="Arial"/>
              </a:rPr>
              <a:t>5.80 s</a:t>
            </a:r>
          </a:p>
        </p:txBody>
      </p:sp>
      <p:sp>
        <p:nvSpPr>
          <p:cNvPr id="11" name="TextBox 10"/>
          <p:cNvSpPr txBox="1"/>
          <p:nvPr/>
        </p:nvSpPr>
        <p:spPr>
          <a:xfrm>
            <a:off x="3474720" y="1984248"/>
            <a:ext cx="2423160" cy="47548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50" b="0">
                <a:solidFill>
                  <a:srgbClr val="242D35"/>
                </a:solidFill>
                <a:latin typeface="Arial"/>
              </a:rPr>
              <a:t>mean successful time</a:t>
            </a:r>
            <a:br/>
            <a:r>
              <a:rPr sz="1050" b="0">
                <a:solidFill>
                  <a:srgbClr val="242D35"/>
                </a:solidFill>
                <a:latin typeface="Arial"/>
              </a:rPr>
              <a:t>best 120M checkpoint</a:t>
            </a:r>
          </a:p>
        </p:txBody>
      </p:sp>
      <p:sp>
        <p:nvSpPr>
          <p:cNvPr id="12" name="Rounded Rectangle 11"/>
          <p:cNvSpPr/>
          <p:nvPr/>
        </p:nvSpPr>
        <p:spPr>
          <a:xfrm>
            <a:off x="6208776" y="1371600"/>
            <a:ext cx="2660904" cy="1161288"/>
          </a:xfrm>
          <a:prstGeom prst="roundRect">
            <a:avLst/>
          </a:prstGeom>
          <a:solidFill>
            <a:srgbClr val="FFFFFF"/>
          </a:solidFill>
          <a:ln w="19050">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0216" y="1472184"/>
            <a:ext cx="2478024" cy="43891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2500" b="1">
                <a:solidFill>
                  <a:srgbClr val="005293"/>
                </a:solidFill>
                <a:latin typeface="Arial"/>
              </a:rPr>
              <a:t>0%</a:t>
            </a:r>
          </a:p>
        </p:txBody>
      </p:sp>
      <p:sp>
        <p:nvSpPr>
          <p:cNvPr id="14" name="TextBox 13"/>
          <p:cNvSpPr txBox="1"/>
          <p:nvPr/>
        </p:nvSpPr>
        <p:spPr>
          <a:xfrm>
            <a:off x="6327648" y="1984248"/>
            <a:ext cx="2423160" cy="47548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50" b="0">
                <a:solidFill>
                  <a:srgbClr val="242D35"/>
                </a:solidFill>
                <a:latin typeface="Arial"/>
              </a:rPr>
              <a:t>position safety-limit violations</a:t>
            </a:r>
            <a:br/>
            <a:r>
              <a:rPr sz="1050" b="0">
                <a:solidFill>
                  <a:srgbClr val="242D35"/>
                </a:solidFill>
                <a:latin typeface="Arial"/>
              </a:rPr>
              <a:t>across the 40-seed sweep</a:t>
            </a:r>
          </a:p>
        </p:txBody>
      </p:sp>
      <p:sp>
        <p:nvSpPr>
          <p:cNvPr id="15" name="Rounded Rectangle 14"/>
          <p:cNvSpPr/>
          <p:nvPr/>
        </p:nvSpPr>
        <p:spPr>
          <a:xfrm>
            <a:off x="9061704" y="1371600"/>
            <a:ext cx="2660904" cy="1161288"/>
          </a:xfrm>
          <a:prstGeom prst="roundRect">
            <a:avLst/>
          </a:prstGeom>
          <a:solidFill>
            <a:srgbClr val="FFFFFF"/>
          </a:solidFill>
          <a:ln w="19050">
            <a:solidFill>
              <a:srgbClr val="E37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53144" y="1472184"/>
            <a:ext cx="2478024" cy="438912"/>
          </a:xfrm>
          <a:prstGeom prst="rect">
            <a:avLst/>
          </a:prstGeom>
          <a:noFill/>
        </p:spPr>
        <p:txBody>
          <a:bodyPr wrap="square" lIns="18288" rIns="18288" tIns="18288" bIns="18288" anchor="ctr">
            <a:spAutoFit/>
          </a:bodyPr>
          <a:lstStyle/>
          <a:p>
            <a:pPr algn="ctr">
              <a:lnSpc>
                <a:spcPct val="100000"/>
              </a:lnSpc>
              <a:spcBef>
                <a:spcPts val="0"/>
              </a:spcBef>
              <a:spcAft>
                <a:spcPts val="0"/>
              </a:spcAft>
            </a:pPr>
            <a:r>
              <a:rPr sz="2500" b="1">
                <a:solidFill>
                  <a:srgbClr val="E37222"/>
                </a:solidFill>
                <a:latin typeface="Arial"/>
              </a:rPr>
              <a:t>72.5%</a:t>
            </a:r>
          </a:p>
        </p:txBody>
      </p:sp>
      <p:sp>
        <p:nvSpPr>
          <p:cNvPr id="17" name="TextBox 16"/>
          <p:cNvSpPr txBox="1"/>
          <p:nvPr/>
        </p:nvSpPr>
        <p:spPr>
          <a:xfrm>
            <a:off x="9180576" y="1984248"/>
            <a:ext cx="2423160" cy="47548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1050" b="0">
                <a:solidFill>
                  <a:srgbClr val="242D35"/>
                </a:solidFill>
                <a:latin typeface="Arial"/>
              </a:rPr>
              <a:t>smoother deployed candidate</a:t>
            </a:r>
            <a:br/>
            <a:r>
              <a:rPr sz="1050" b="0">
                <a:solidFill>
                  <a:srgbClr val="242D35"/>
                </a:solidFill>
                <a:latin typeface="Arial"/>
              </a:rPr>
              <a:t>200 single-env episodes</a:t>
            </a:r>
          </a:p>
        </p:txBody>
      </p:sp>
      <p:sp>
        <p:nvSpPr>
          <p:cNvPr id="18" name="TextBox 17"/>
          <p:cNvSpPr txBox="1"/>
          <p:nvPr/>
        </p:nvSpPr>
        <p:spPr>
          <a:xfrm>
            <a:off x="530352" y="2679192"/>
            <a:ext cx="7635240" cy="246888"/>
          </a:xfrm>
          <a:prstGeom prst="rect">
            <a:avLst/>
          </a:prstGeom>
          <a:noFill/>
        </p:spPr>
        <p:txBody>
          <a:bodyPr wrap="square" lIns="18288" rIns="18288" tIns="18288" bIns="18288" anchor="t">
            <a:spAutoFit/>
          </a:bodyPr>
          <a:lstStyle/>
          <a:p>
            <a:pPr algn="l">
              <a:lnSpc>
                <a:spcPct val="100000"/>
              </a:lnSpc>
              <a:spcBef>
                <a:spcPts val="0"/>
              </a:spcBef>
              <a:spcAft>
                <a:spcPts val="0"/>
              </a:spcAft>
            </a:pPr>
            <a:r>
              <a:rPr sz="1150" b="1">
                <a:solidFill>
                  <a:srgbClr val="242D35"/>
                </a:solidFill>
                <a:latin typeface="Arial"/>
              </a:rPr>
              <a:t>Crash hotspots from 1,024 randomized vector worlds</a:t>
            </a:r>
          </a:p>
        </p:txBody>
      </p:sp>
      <p:pic>
        <p:nvPicPr>
          <p:cNvPr id="19" name="Picture 18" descr="evaluation_level2_100M_crash_hotspots_hotspots.png"/>
          <p:cNvPicPr>
            <a:picLocks noChangeAspect="1"/>
          </p:cNvPicPr>
          <p:nvPr/>
        </p:nvPicPr>
        <p:blipFill>
          <a:blip r:embed="rId2"/>
          <a:srcRect l="375" r="375"/>
          <a:stretch>
            <a:fillRect/>
          </a:stretch>
        </p:blipFill>
        <p:spPr>
          <a:xfrm>
            <a:off x="502920" y="2971800"/>
            <a:ext cx="7754112" cy="2441448"/>
          </a:xfrm>
          <a:prstGeom prst="rect">
            <a:avLst/>
          </a:prstGeom>
        </p:spPr>
      </p:pic>
      <p:sp>
        <p:nvSpPr>
          <p:cNvPr id="20" name="Rounded Rectangle 19"/>
          <p:cNvSpPr/>
          <p:nvPr/>
        </p:nvSpPr>
        <p:spPr>
          <a:xfrm>
            <a:off x="8458200" y="2971800"/>
            <a:ext cx="3218688" cy="2441448"/>
          </a:xfrm>
          <a:prstGeom prst="roundRect">
            <a:avLst/>
          </a:prstGeom>
          <a:solidFill>
            <a:srgbClr val="FCF5F5"/>
          </a:solidFill>
          <a:ln w="13970">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118872" bIns="118872"/>
          <a:lstStyle/>
          <a:p>
            <a:pPr algn="l">
              <a:lnSpc>
                <a:spcPct val="100000"/>
              </a:lnSpc>
              <a:spcBef>
                <a:spcPts val="0"/>
              </a:spcBef>
              <a:spcAft>
                <a:spcPts val="500"/>
              </a:spcAft>
            </a:pPr>
            <a:r>
              <a:rPr sz="1300" b="1">
                <a:solidFill>
                  <a:srgbClr val="C4071B"/>
                </a:solidFill>
                <a:latin typeface="Arial"/>
              </a:rPr>
              <a:t>What did not work as expected</a:t>
            </a:r>
          </a:p>
          <a:p>
            <a:pPr algn="l">
              <a:lnSpc>
                <a:spcPct val="100000"/>
              </a:lnSpc>
              <a:spcBef>
                <a:spcPts val="0"/>
              </a:spcBef>
              <a:spcAft>
                <a:spcPts val="200"/>
              </a:spcAft>
            </a:pPr>
            <a:r>
              <a:rPr sz="1050" b="0">
                <a:solidFill>
                  <a:srgbClr val="242D35"/>
                </a:solidFill>
                <a:latin typeface="Arial"/>
              </a:rPr>
              <a:t>Success regresses after some checkpoints; more training is not automatically better.</a:t>
            </a:r>
          </a:p>
          <a:p>
            <a:pPr algn="l">
              <a:lnSpc>
                <a:spcPct val="100000"/>
              </a:lnSpc>
              <a:spcBef>
                <a:spcPts val="0"/>
              </a:spcBef>
              <a:spcAft>
                <a:spcPts val="200"/>
              </a:spcAft>
            </a:pPr>
            <a:r>
              <a:rPr sz="1050" b="0">
                <a:solidFill>
                  <a:srgbClr val="242D35"/>
                </a:solidFill>
                <a:latin typeface="Arial"/>
              </a:rPr>
              <a:t>318 / 1,024 crashes: Gate 3 top = 132; Obstacle 2 = 96.</a:t>
            </a:r>
          </a:p>
          <a:p>
            <a:pPr algn="l">
              <a:lnSpc>
                <a:spcPct val="100000"/>
              </a:lnSpc>
              <a:spcBef>
                <a:spcPts val="0"/>
              </a:spcBef>
              <a:spcAft>
                <a:spcPts val="200"/>
              </a:spcAft>
            </a:pPr>
            <a:r>
              <a:rPr sz="1050" b="0">
                <a:solidFill>
                  <a:srgbClr val="242D35"/>
                </a:solidFill>
                <a:latin typeface="Arial"/>
              </a:rPr>
              <a:t>Faster policies produce more aggressive tilt commands.</a:t>
            </a:r>
          </a:p>
          <a:p>
            <a:pPr algn="l">
              <a:lnSpc>
                <a:spcPct val="100000"/>
              </a:lnSpc>
              <a:spcBef>
                <a:spcPts val="0"/>
              </a:spcBef>
              <a:spcAft>
                <a:spcPts val="200"/>
              </a:spcAft>
            </a:pPr>
            <a:r>
              <a:rPr sz="1050" b="1">
                <a:solidFill>
                  <a:srgbClr val="005293"/>
                </a:solidFill>
                <a:latin typeface="Arial"/>
              </a:rPr>
              <a:t>Response: targeted hotspot diagnosis + checkpoint selection.</a:t>
            </a:r>
          </a:p>
        </p:txBody>
      </p:sp>
      <p:sp>
        <p:nvSpPr>
          <p:cNvPr id="21" name="Rounded Rectangle 20"/>
          <p:cNvSpPr/>
          <p:nvPr/>
        </p:nvSpPr>
        <p:spPr>
          <a:xfrm>
            <a:off x="8705088" y="5559552"/>
            <a:ext cx="2706624" cy="338328"/>
          </a:xfrm>
          <a:prstGeom prst="roundRect">
            <a:avLst/>
          </a:prstGeom>
          <a:solidFill>
            <a:srgbClr val="C4071B"/>
          </a:solidFill>
          <a:ln>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850" b="1">
                <a:solidFill>
                  <a:srgbClr val="FFFFFF"/>
                </a:solidFill>
                <a:latin typeface="Arial"/>
              </a:rPr>
              <a:t>NEXT: FIX TWO DOMINANT HOTSPOTS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54864" rIns="54864" tIns="54864" bIns="54864" anchor="t"/>
          <a:lstStyle/>
          <a:p>
            <a:pPr algn="l">
              <a:lnSpc>
                <a:spcPct val="100000"/>
              </a:lnSpc>
              <a:spcBef>
                <a:spcPts val="0"/>
              </a:spcBef>
              <a:spcAft>
                <a:spcPts val="0"/>
              </a:spcAft>
            </a:pPr>
            <a:r>
              <a:rPr sz="2500" b="1">
                <a:solidFill>
                  <a:srgbClr val="242D35"/>
                </a:solidFill>
                <a:latin typeface="Arial"/>
              </a:rPr>
              <a:t>Plan for the remainder of the semester</a:t>
            </a:r>
          </a:p>
        </p:txBody>
      </p:sp>
      <p:sp>
        <p:nvSpPr>
          <p:cNvPr id="3" name="Content Placeholder 2"/>
          <p:cNvSpPr>
            <a:spLocks noGrp="1"/>
          </p:cNvSpPr>
          <p:nvPr>
            <p:ph idx="10" sz="quarter"/>
          </p:nvPr>
        </p:nvSpPr>
        <p:spPr/>
        <p:txBody>
          <a:bodyPr/>
          <a:lstStyle/>
          <a:p/>
        </p:txBody>
      </p:sp>
      <p:sp>
        <p:nvSpPr>
          <p:cNvPr id="4" name="Text Placeholder 3"/>
          <p:cNvSpPr>
            <a:spLocks noGrp="1"/>
          </p:cNvSpPr>
          <p:nvPr>
            <p:ph type="body" idx="11" sz="quarter"/>
          </p:nvPr>
        </p:nvSpPr>
        <p:spPr/>
        <p:txBody>
          <a:bodyPr wrap="square" lIns="54864" rIns="54864" tIns="54864" bIns="54864" anchor="ctr"/>
          <a:lstStyle/>
          <a:p>
            <a:pPr algn="r">
              <a:lnSpc>
                <a:spcPct val="100000"/>
              </a:lnSpc>
              <a:spcBef>
                <a:spcPts val="0"/>
              </a:spcBef>
              <a:spcAft>
                <a:spcPts val="0"/>
              </a:spcAft>
            </a:pPr>
            <a:r>
              <a:rPr sz="850" b="0">
                <a:solidFill>
                  <a:srgbClr val="707A82"/>
                </a:solidFill>
                <a:latin typeface="Arial"/>
              </a:rPr>
              <a:t>Xiaochen Miao  |  Progress Presentation SS26  |  5/5</a:t>
            </a:r>
          </a:p>
        </p:txBody>
      </p:sp>
      <p:sp>
        <p:nvSpPr>
          <p:cNvPr id="5" name="Text Placeholder 4"/>
          <p:cNvSpPr>
            <a:spLocks noGrp="1"/>
          </p:cNvSpPr>
          <p:nvPr>
            <p:ph type="body" idx="12" sz="quarter"/>
          </p:nvPr>
        </p:nvSpPr>
        <p:spPr/>
        <p:txBody>
          <a:bodyPr wrap="square" lIns="54864" rIns="54864" tIns="54864" bIns="54864" anchor="t"/>
          <a:lstStyle/>
          <a:p>
            <a:pPr algn="l">
              <a:lnSpc>
                <a:spcPct val="100000"/>
              </a:lnSpc>
              <a:spcBef>
                <a:spcPts val="0"/>
              </a:spcBef>
              <a:spcAft>
                <a:spcPts val="0"/>
              </a:spcAft>
            </a:pPr>
            <a:r>
              <a:rPr sz="1000" b="1">
                <a:solidFill>
                  <a:srgbClr val="3070B3"/>
                </a:solidFill>
                <a:latin typeface="Arial"/>
              </a:rPr>
              <a:t>MILESTONES AND SMART GOALS</a:t>
            </a:r>
          </a:p>
        </p:txBody>
      </p:sp>
      <p:sp>
        <p:nvSpPr>
          <p:cNvPr id="6" name="Rounded Rectangle 5"/>
          <p:cNvSpPr/>
          <p:nvPr/>
        </p:nvSpPr>
        <p:spPr>
          <a:xfrm>
            <a:off x="502920" y="1325880"/>
            <a:ext cx="11173968" cy="502920"/>
          </a:xfrm>
          <a:prstGeom prst="roundRect">
            <a:avLst/>
          </a:prstGeom>
          <a:solidFill>
            <a:srgbClr val="005293"/>
          </a:solidFill>
          <a:ln>
            <a:solidFill>
              <a:srgbClr val="005293"/>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1050" b="1">
                <a:solidFill>
                  <a:srgbClr val="FFFFFF"/>
                </a:solidFill>
                <a:latin typeface="Arial"/>
              </a:rPr>
              <a:t>OBJECTIVE BY 02 JULY: RELIABLE LEVEL-2 POLICY, VALIDATED AND DEPLOYMENT-READY</a:t>
            </a:r>
          </a:p>
        </p:txBody>
      </p:sp>
      <p:sp>
        <p:nvSpPr>
          <p:cNvPr id="7" name="Rounded Rectangle 6"/>
          <p:cNvSpPr/>
          <p:nvPr/>
        </p:nvSpPr>
        <p:spPr>
          <a:xfrm>
            <a:off x="612648" y="2066543"/>
            <a:ext cx="2176272" cy="347472"/>
          </a:xfrm>
          <a:prstGeom prst="roundRect">
            <a:avLst/>
          </a:prstGeom>
          <a:solidFill>
            <a:srgbClr val="C4071B"/>
          </a:solidFill>
          <a:ln>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50" b="1">
                <a:solidFill>
                  <a:srgbClr val="FFFFFF"/>
                </a:solidFill>
                <a:latin typeface="Arial"/>
              </a:rPr>
              <a:t>11 JUN</a:t>
            </a:r>
          </a:p>
        </p:txBody>
      </p:sp>
      <p:sp>
        <p:nvSpPr>
          <p:cNvPr id="8" name="Rounded Rectangle 7"/>
          <p:cNvSpPr/>
          <p:nvPr/>
        </p:nvSpPr>
        <p:spPr>
          <a:xfrm>
            <a:off x="457200" y="2267712"/>
            <a:ext cx="2496312" cy="3246120"/>
          </a:xfrm>
          <a:prstGeom prst="roundRect">
            <a:avLst/>
          </a:prstGeom>
          <a:solidFill>
            <a:srgbClr val="FFFFFF"/>
          </a:solidFill>
          <a:ln w="15240">
            <a:solidFill>
              <a:srgbClr val="C4071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300" b="1">
                <a:solidFill>
                  <a:srgbClr val="C4071B"/>
                </a:solidFill>
                <a:latin typeface="Arial"/>
              </a:rPr>
              <a:t>Hotspot fix</a:t>
            </a:r>
          </a:p>
          <a:p>
            <a:pPr algn="l">
              <a:lnSpc>
                <a:spcPct val="100000"/>
              </a:lnSpc>
              <a:spcAft>
                <a:spcPts val="0"/>
              </a:spcAft>
            </a:pPr>
            <a:r>
              <a:rPr sz="1019">
                <a:solidFill>
                  <a:srgbClr val="242D35"/>
                </a:solidFill>
                <a:latin typeface="Arial"/>
              </a:rPr>
              <a:t>Change reward / observation around Gate 3 top and Obstacle 2.</a:t>
            </a:r>
            <a:br/>
            <a:br/>
            <a:r>
              <a:rPr sz="1019">
                <a:solidFill>
                  <a:srgbClr val="242D35"/>
                </a:solidFill>
                <a:latin typeface="Arial"/>
              </a:rPr>
              <a:t>Acceptance: 1,024-episode test; reduce these two crash counts by &gt;=30%.</a:t>
            </a:r>
          </a:p>
        </p:txBody>
      </p:sp>
      <p:sp>
        <p:nvSpPr>
          <p:cNvPr id="9" name="Rounded Rectangle 8"/>
          <p:cNvSpPr/>
          <p:nvPr/>
        </p:nvSpPr>
        <p:spPr>
          <a:xfrm>
            <a:off x="731520" y="5074920"/>
            <a:ext cx="1947672" cy="292608"/>
          </a:xfrm>
          <a:prstGeom prst="roundRect">
            <a:avLst/>
          </a:prstGeom>
          <a:solidFill>
            <a:srgbClr val="F3F5F7"/>
          </a:solidFill>
          <a:ln>
            <a:solidFill>
              <a:srgbClr val="F3F5F7"/>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780" b="1">
                <a:solidFill>
                  <a:srgbClr val="242D35"/>
                </a:solidFill>
                <a:latin typeface="Arial"/>
              </a:rPr>
              <a:t>OWNER: XIAOCHEN MIAO</a:t>
            </a:r>
          </a:p>
        </p:txBody>
      </p:sp>
      <p:sp>
        <p:nvSpPr>
          <p:cNvPr id="10" name="Chevron 9"/>
          <p:cNvSpPr/>
          <p:nvPr/>
        </p:nvSpPr>
        <p:spPr>
          <a:xfrm>
            <a:off x="3035808" y="3657600"/>
            <a:ext cx="228600" cy="384048"/>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20440" y="2066543"/>
            <a:ext cx="2176272" cy="347472"/>
          </a:xfrm>
          <a:prstGeom prst="roundRect">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50" b="1">
                <a:solidFill>
                  <a:srgbClr val="FFFFFF"/>
                </a:solidFill>
                <a:latin typeface="Arial"/>
              </a:rPr>
              <a:t>18 JUN</a:t>
            </a:r>
          </a:p>
        </p:txBody>
      </p:sp>
      <p:sp>
        <p:nvSpPr>
          <p:cNvPr id="12" name="Rounded Rectangle 11"/>
          <p:cNvSpPr/>
          <p:nvPr/>
        </p:nvSpPr>
        <p:spPr>
          <a:xfrm>
            <a:off x="3364992" y="2267712"/>
            <a:ext cx="2496312" cy="3246120"/>
          </a:xfrm>
          <a:prstGeom prst="roundRect">
            <a:avLst/>
          </a:prstGeom>
          <a:solidFill>
            <a:srgbClr val="FFFFFF"/>
          </a:solidFill>
          <a:ln w="15240">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300" b="1">
                <a:solidFill>
                  <a:srgbClr val="3070B3"/>
                </a:solidFill>
                <a:latin typeface="Arial"/>
              </a:rPr>
              <a:t>Policy freeze</a:t>
            </a:r>
          </a:p>
          <a:p>
            <a:pPr algn="l">
              <a:lnSpc>
                <a:spcPct val="100000"/>
              </a:lnSpc>
              <a:spcAft>
                <a:spcPts val="0"/>
              </a:spcAft>
            </a:pPr>
            <a:r>
              <a:rPr sz="1019">
                <a:solidFill>
                  <a:srgbClr val="242D35"/>
                </a:solidFill>
                <a:latin typeface="Arial"/>
              </a:rPr>
              <a:t>Compare candidate checkpoints on the same randomized worlds.</a:t>
            </a:r>
            <a:br/>
            <a:br/>
            <a:r>
              <a:rPr sz="1019">
                <a:solidFill>
                  <a:srgbClr val="242D35"/>
                </a:solidFill>
                <a:latin typeface="Arial"/>
              </a:rPr>
              <a:t>Acceptance: &gt;=85% success, &lt;=6.0 s mean successful time, 0 position-limit violations.</a:t>
            </a:r>
          </a:p>
        </p:txBody>
      </p:sp>
      <p:sp>
        <p:nvSpPr>
          <p:cNvPr id="13" name="Rounded Rectangle 12"/>
          <p:cNvSpPr/>
          <p:nvPr/>
        </p:nvSpPr>
        <p:spPr>
          <a:xfrm>
            <a:off x="3639312" y="5074920"/>
            <a:ext cx="1947672" cy="292608"/>
          </a:xfrm>
          <a:prstGeom prst="roundRect">
            <a:avLst/>
          </a:prstGeom>
          <a:solidFill>
            <a:srgbClr val="F3F5F7"/>
          </a:solidFill>
          <a:ln>
            <a:solidFill>
              <a:srgbClr val="F3F5F7"/>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780" b="1">
                <a:solidFill>
                  <a:srgbClr val="242D35"/>
                </a:solidFill>
                <a:latin typeface="Arial"/>
              </a:rPr>
              <a:t>OWNER: XIAOCHEN MIAO</a:t>
            </a:r>
          </a:p>
        </p:txBody>
      </p:sp>
      <p:sp>
        <p:nvSpPr>
          <p:cNvPr id="14" name="Chevron 13"/>
          <p:cNvSpPr/>
          <p:nvPr/>
        </p:nvSpPr>
        <p:spPr>
          <a:xfrm>
            <a:off x="5943600" y="3657600"/>
            <a:ext cx="228600" cy="384048"/>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28232" y="2066543"/>
            <a:ext cx="2176272" cy="347472"/>
          </a:xfrm>
          <a:prstGeom prst="roundRect">
            <a:avLst/>
          </a:prstGeom>
          <a:solidFill>
            <a:srgbClr val="7AB800"/>
          </a:solidFill>
          <a:ln>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50" b="1">
                <a:solidFill>
                  <a:srgbClr val="FFFFFF"/>
                </a:solidFill>
                <a:latin typeface="Arial"/>
              </a:rPr>
              <a:t>25 JUN</a:t>
            </a:r>
          </a:p>
        </p:txBody>
      </p:sp>
      <p:sp>
        <p:nvSpPr>
          <p:cNvPr id="16" name="Rounded Rectangle 15"/>
          <p:cNvSpPr/>
          <p:nvPr/>
        </p:nvSpPr>
        <p:spPr>
          <a:xfrm>
            <a:off x="6272784" y="2267712"/>
            <a:ext cx="2496312" cy="3246120"/>
          </a:xfrm>
          <a:prstGeom prst="roundRect">
            <a:avLst/>
          </a:prstGeom>
          <a:solidFill>
            <a:srgbClr val="FFFFFF"/>
          </a:solidFill>
          <a:ln w="15240">
            <a:solidFill>
              <a:srgbClr val="7AB80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300" b="1">
                <a:solidFill>
                  <a:srgbClr val="7AB800"/>
                </a:solidFill>
                <a:latin typeface="Arial"/>
              </a:rPr>
              <a:t>Sim-to-real validation</a:t>
            </a:r>
          </a:p>
          <a:p>
            <a:pPr algn="l">
              <a:lnSpc>
                <a:spcPct val="100000"/>
              </a:lnSpc>
              <a:spcAft>
                <a:spcPts val="0"/>
              </a:spcAft>
            </a:pPr>
            <a:r>
              <a:rPr sz="1019">
                <a:solidFill>
                  <a:srgbClr val="242D35"/>
                </a:solidFill>
                <a:latin typeface="Arial"/>
              </a:rPr>
              <a:t>Run the frozen policy through the deployment pipeline and lab track.</a:t>
            </a:r>
            <a:br/>
            <a:br/>
            <a:r>
              <a:rPr sz="1019">
                <a:solidFill>
                  <a:srgbClr val="242D35"/>
                </a:solidFill>
                <a:latin typeface="Arial"/>
              </a:rPr>
              <a:t>Acceptance: at least 18 / 20 completed runs and 0 safety-stop events.</a:t>
            </a:r>
          </a:p>
        </p:txBody>
      </p:sp>
      <p:sp>
        <p:nvSpPr>
          <p:cNvPr id="17" name="Rounded Rectangle 16"/>
          <p:cNvSpPr/>
          <p:nvPr/>
        </p:nvSpPr>
        <p:spPr>
          <a:xfrm>
            <a:off x="6547104" y="5074920"/>
            <a:ext cx="1947672" cy="292608"/>
          </a:xfrm>
          <a:prstGeom prst="roundRect">
            <a:avLst/>
          </a:prstGeom>
          <a:solidFill>
            <a:srgbClr val="F3F5F7"/>
          </a:solidFill>
          <a:ln>
            <a:solidFill>
              <a:srgbClr val="F3F5F7"/>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780" b="1">
                <a:solidFill>
                  <a:srgbClr val="242D35"/>
                </a:solidFill>
                <a:latin typeface="Arial"/>
              </a:rPr>
              <a:t>OWNER: XIAOCHEN MIAO</a:t>
            </a:r>
          </a:p>
        </p:txBody>
      </p:sp>
      <p:sp>
        <p:nvSpPr>
          <p:cNvPr id="18" name="Chevron 17"/>
          <p:cNvSpPr/>
          <p:nvPr/>
        </p:nvSpPr>
        <p:spPr>
          <a:xfrm>
            <a:off x="8851392" y="3657600"/>
            <a:ext cx="228600" cy="384048"/>
          </a:xfrm>
          <a:prstGeom prst="chevron">
            <a:avLst/>
          </a:prstGeom>
          <a:solidFill>
            <a:srgbClr val="3070B3"/>
          </a:solidFill>
          <a:ln>
            <a:solidFill>
              <a:srgbClr val="3070B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36024" y="2066543"/>
            <a:ext cx="2176272" cy="347472"/>
          </a:xfrm>
          <a:prstGeom prst="roundRect">
            <a:avLst/>
          </a:prstGeom>
          <a:solidFill>
            <a:srgbClr val="E37222"/>
          </a:solidFill>
          <a:ln>
            <a:solidFill>
              <a:srgbClr val="E37222"/>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950" b="1">
                <a:solidFill>
                  <a:srgbClr val="FFFFFF"/>
                </a:solidFill>
                <a:latin typeface="Arial"/>
              </a:rPr>
              <a:t>02 JUL</a:t>
            </a:r>
          </a:p>
        </p:txBody>
      </p:sp>
      <p:sp>
        <p:nvSpPr>
          <p:cNvPr id="20" name="Rounded Rectangle 19"/>
          <p:cNvSpPr/>
          <p:nvPr/>
        </p:nvSpPr>
        <p:spPr>
          <a:xfrm>
            <a:off x="9180576" y="2267712"/>
            <a:ext cx="2496312" cy="3246120"/>
          </a:xfrm>
          <a:prstGeom prst="roundRect">
            <a:avLst/>
          </a:prstGeom>
          <a:solidFill>
            <a:srgbClr val="FFFFFF"/>
          </a:solidFill>
          <a:ln w="15240">
            <a:solidFill>
              <a:srgbClr val="E37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00584" bIns="73152"/>
          <a:lstStyle/>
          <a:p>
            <a:pPr algn="l">
              <a:lnSpc>
                <a:spcPct val="100000"/>
              </a:lnSpc>
              <a:spcAft>
                <a:spcPts val="500"/>
              </a:spcAft>
            </a:pPr>
            <a:r>
              <a:rPr sz="1300" b="1">
                <a:solidFill>
                  <a:srgbClr val="E37222"/>
                </a:solidFill>
                <a:latin typeface="Arial"/>
              </a:rPr>
              <a:t>Final package</a:t>
            </a:r>
          </a:p>
          <a:p>
            <a:pPr algn="l">
              <a:lnSpc>
                <a:spcPct val="100000"/>
              </a:lnSpc>
              <a:spcAft>
                <a:spcPts val="0"/>
              </a:spcAft>
            </a:pPr>
            <a:r>
              <a:rPr sz="1019">
                <a:solidFill>
                  <a:srgbClr val="242D35"/>
                </a:solidFill>
                <a:latin typeface="Arial"/>
              </a:rPr>
              <a:t>Freeze checkpoint, config, evaluation outputs, and final report material.</a:t>
            </a:r>
            <a:br/>
            <a:br/>
            <a:r>
              <a:rPr sz="1019">
                <a:solidFill>
                  <a:srgbClr val="242D35"/>
                </a:solidFill>
                <a:latin typeface="Arial"/>
              </a:rPr>
              <a:t>Acceptance: one-command reproducible evaluation and deployment-ready controller.</a:t>
            </a:r>
          </a:p>
        </p:txBody>
      </p:sp>
      <p:sp>
        <p:nvSpPr>
          <p:cNvPr id="21" name="Rounded Rectangle 20"/>
          <p:cNvSpPr/>
          <p:nvPr/>
        </p:nvSpPr>
        <p:spPr>
          <a:xfrm>
            <a:off x="9454896" y="5074920"/>
            <a:ext cx="1947672" cy="292608"/>
          </a:xfrm>
          <a:prstGeom prst="roundRect">
            <a:avLst/>
          </a:prstGeom>
          <a:solidFill>
            <a:srgbClr val="F3F5F7"/>
          </a:solidFill>
          <a:ln>
            <a:solidFill>
              <a:srgbClr val="F3F5F7"/>
            </a:solidFill>
          </a:ln>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lnSpc>
                <a:spcPct val="100000"/>
              </a:lnSpc>
              <a:spcBef>
                <a:spcPts val="0"/>
              </a:spcBef>
              <a:spcAft>
                <a:spcPts val="0"/>
              </a:spcAft>
            </a:pPr>
            <a:r>
              <a:rPr sz="780" b="1">
                <a:solidFill>
                  <a:srgbClr val="242D35"/>
                </a:solidFill>
                <a:latin typeface="Arial"/>
              </a:rPr>
              <a:t>OWNER: XIAOCHEN MIAO</a:t>
            </a:r>
          </a:p>
        </p:txBody>
      </p:sp>
      <p:sp>
        <p:nvSpPr>
          <p:cNvPr id="22" name="TextBox 21"/>
          <p:cNvSpPr txBox="1"/>
          <p:nvPr/>
        </p:nvSpPr>
        <p:spPr>
          <a:xfrm>
            <a:off x="566928" y="5696712"/>
            <a:ext cx="10972800" cy="292608"/>
          </a:xfrm>
          <a:prstGeom prst="rect">
            <a:avLst/>
          </a:prstGeom>
          <a:noFill/>
        </p:spPr>
        <p:txBody>
          <a:bodyPr wrap="square" lIns="18288" rIns="18288" tIns="18288" bIns="18288" anchor="t">
            <a:spAutoFit/>
          </a:bodyPr>
          <a:lstStyle/>
          <a:p>
            <a:pPr algn="ctr">
              <a:lnSpc>
                <a:spcPct val="100000"/>
              </a:lnSpc>
              <a:spcBef>
                <a:spcPts val="0"/>
              </a:spcBef>
              <a:spcAft>
                <a:spcPts val="0"/>
              </a:spcAft>
            </a:pPr>
            <a:r>
              <a:rPr sz="950" b="1">
                <a:solidFill>
                  <a:srgbClr val="C4071B"/>
                </a:solidFill>
                <a:latin typeface="Arial"/>
              </a:rPr>
              <a:t>Risk buffer: retain the 120M time-penalty checkpoint as the fallback if hotspot tuning or hardware validation regresses.</a:t>
            </a:r>
          </a:p>
        </p:txBody>
      </p:sp>
    </p:spTree>
  </p:cSld>
  <p:clrMapOvr>
    <a:masterClrMapping/>
  </p:clrMapOvr>
</p:sld>
</file>

<file path=ppt/theme/theme1.xml><?xml version="1.0" encoding="utf-8"?>
<a:theme xmlns:a="http://schemas.openxmlformats.org/drawingml/2006/main" name="LSY_template_2025_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nutzerdefiniert 1">
      <a:majorFont>
        <a:latin typeface="Oswald"/>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5875">
          <a:solidFill>
            <a:schemeClr val="bg1">
              <a:lumMod val="50000"/>
            </a:schemeClr>
          </a:solidFill>
          <a:prstDash val="dash"/>
          <a:headEnd type="oval" w="sm" len="sm"/>
          <a:tailEnd type="stealth" w="lg" len="lg"/>
        </a:ln>
      </a:spPr>
      <a:bodyPr rtlCol="0" anchor="ctr"/>
      <a:lstStyle>
        <a:defPPr algn="ctr">
          <a:defRPr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LSY_template_2025_v3" id="{72C4A47F-C597-453D-A4D8-A8C5A5E25664}" vid="{2B9D18F7-30E7-4838-8BA8-E950BFA62F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LSY_template_2025_v3</Template>
  <TotalTime>47</TotalTime>
  <Words>264</Words>
  <Application>Microsoft Office PowerPoint</Application>
  <PresentationFormat>Widescreen</PresentationFormat>
  <Paragraphs>8</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Oswald</vt:lpstr>
      <vt:lpstr>Oswald ExtraLight</vt:lpstr>
      <vt:lpstr>LSY_template_2025_v3</vt:lpstr>
      <vt:lpstr>Progress Presentation: Guidelines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 Rath</dc:creator>
  <cp:lastModifiedBy>Marcel Rath</cp:lastModifiedBy>
  <cp:revision>11</cp:revision>
  <dcterms:created xsi:type="dcterms:W3CDTF">2025-11-18T15:10:33Z</dcterms:created>
  <dcterms:modified xsi:type="dcterms:W3CDTF">2026-05-29T16:19:03Z</dcterms:modified>
</cp:coreProperties>
</file>